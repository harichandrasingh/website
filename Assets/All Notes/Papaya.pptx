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79" r:id="rId15"/>
    <p:sldId id="276" r:id="rId16"/>
    <p:sldId id="280" r:id="rId17"/>
    <p:sldId id="277" r:id="rId18"/>
    <p:sldId id="281" r:id="rId19"/>
    <p:sldId id="270" r:id="rId20"/>
    <p:sldId id="282" r:id="rId21"/>
    <p:sldId id="278" r:id="rId22"/>
    <p:sldId id="283" r:id="rId23"/>
    <p:sldId id="268" r:id="rId24"/>
    <p:sldId id="271" r:id="rId25"/>
    <p:sldId id="272" r:id="rId26"/>
    <p:sldId id="273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C5636-3754-4FE7-90EA-FCBE44149E9A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E7F12-832F-4743-9135-B26246ABF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2DB3-D34B-4A15-907D-401B6A226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D0D9D-4A9E-4B28-A629-A1BD1635F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0DBE9-EFE3-4F35-B433-DFFE61FE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F7DA-BD98-4D18-A593-5060CAE43692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C34C-330A-4786-922E-A9881AA5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1B569-8102-42B4-8CCC-192FF795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8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38D3-FC47-4A3B-BF04-8863FE61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896AB-682B-4F6A-8910-565BFB02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DFE99-706E-4F38-81B4-94D5F4DB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2DA7-9876-4EB4-8351-00153A1904B7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60644-F151-4FCF-970D-332E1DD0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F988-E079-4920-9806-9D152833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35EF-4F87-4F8E-ABA8-F9CD5BD4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FCF03-13F8-4970-B676-273A0B87F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455DD-12F7-406F-ADDE-44414523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8D87-32FD-40D9-8590-8A12F5C0302F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82FE2-CEAE-4255-AB35-01385CD9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50E9A-D803-4480-90FC-781D3786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8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209B-AA48-4364-9791-06BC8C971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B898-F903-4257-9747-0A606858A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4FEDC-4B9E-4F5B-9A08-37B6CEF2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FDFE1-9171-4203-A2E2-1647903C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D5A3D-7FC5-4B92-967E-A55BAF60CB29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2B9F2-8258-4A1B-805B-76E4A77B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CD9E-FC42-40EE-BDDE-D20C649D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9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10ED-8A7A-456B-828E-0F93845B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2AB7-D8BF-486D-B95D-B4F391E04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6EF88-2997-403D-9871-672AFBAE8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BCA53-C659-4ECD-AB60-C584A1F97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84BAB-CE85-4B4D-88F4-C96A0A9A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FC3AA-9BAC-4D79-ABBA-A8A84451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BF6C-F9A6-49E8-9B1A-F75A01E30B48}" type="datetime1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EA3AC-98A5-4FC7-A897-FB18F3D7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D0F01-FB93-4BFA-8A6E-3151C4E8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5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2328-62C2-4EAE-9377-86F13C8B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C7C65-6CF1-4BDD-977D-72214339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F9112-57D9-4700-981E-CBA824AF83F6}" type="datetime1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A84FA-1754-4811-BF14-0F79A431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D94FA-5A3E-48DB-B7DE-80DD5B92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B87D6-B9AA-4726-9793-39D6A922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DE845-2B9A-4729-8AB6-D3DA92DF5B4D}" type="datetime1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53309-3B59-4D3D-8714-504D03DE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B181-4D79-4143-93FB-9362D2BD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3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2AA1-D702-4FAF-8B89-D5A96307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1E35-BEF6-4B24-A8D7-A15E57BDD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E7284-919C-4844-9319-6D7CC6E72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7CDB4-6531-4E7D-B8F4-1B423B3B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D65BA-5C11-489F-83D6-53F59031B3CC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5EB09-80CB-4ACF-B9B3-F46851BD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8BA2F-1B45-43AF-A8C6-7AA560B7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8CF4-E179-4F83-9E7F-A02D0E1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254A5-515A-4D4D-9B01-1653EE5ED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47D31-F317-4613-8C91-8875C8BB6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6F2F1-3B7A-4EEB-A9AB-B5A35F13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19656-805A-4301-BD07-9FF89F05AC36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16C69-2F2A-4DD5-BFC6-66C25051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F0563-4371-4096-8E8D-6A6292BC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5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DF42-B30F-4748-B1AB-314FED0B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DFF0D-946D-44F9-B988-7ABFB5C1A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2F37-2BD2-458E-8160-AB200B5A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B4BB-1672-41EC-9C31-43D3186FA177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E2BB-E0D7-4DA8-B7C4-3932B581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65E0-690B-4BDB-BEBF-B00313AD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6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CE870-B1A4-4A30-957E-080332825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EAE50-3B4A-4567-8F4B-6FF565734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43222-763C-4BF4-81DE-ECF2751B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B514-0066-4E49-BEBB-6A8C7969566A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B89CA-CE82-425F-A301-B518011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7F8F1-7CE3-4B4A-BC56-BBB06411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5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02B6A-C6E9-4D58-B42D-4591F38F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6CE2B-255A-4933-BC00-19CD28EAD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E4DDE-7018-4543-86E9-0A360F3CC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BD91B-3268-4386-917C-C109CCF08912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FF31A-0541-41D3-939F-C68A12EA5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Harichandra Singh {B.Sc.(Hons.) Agriculture}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ED422-639A-467E-B95D-1040E038E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0CA6E-D4F9-4783-9BE3-CB615E416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4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5687-7C48-473D-886A-65CABC521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5576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Fruit Crop Production and Post-Harvest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429A7-73EC-4120-A0E1-1D483C44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3066"/>
            <a:ext cx="9144000" cy="1655762"/>
          </a:xfrm>
        </p:spPr>
        <p:txBody>
          <a:bodyPr>
            <a:normAutofit fontScale="62500" lnSpcReduction="20000"/>
          </a:bodyPr>
          <a:lstStyle/>
          <a:p>
            <a:r>
              <a:rPr lang="en-US" sz="4500" b="1" dirty="0">
                <a:highlight>
                  <a:srgbClr val="FFFF00"/>
                </a:highlight>
              </a:rPr>
              <a:t>Class 11 (Technical)</a:t>
            </a:r>
          </a:p>
          <a:p>
            <a:endParaRPr lang="en-US" dirty="0"/>
          </a:p>
          <a:p>
            <a:r>
              <a:rPr lang="en-US" sz="4200" b="1" dirty="0">
                <a:solidFill>
                  <a:srgbClr val="FF0000"/>
                </a:solidFill>
                <a:highlight>
                  <a:srgbClr val="FFFF00"/>
                </a:highlight>
              </a:rPr>
              <a:t>Unit – 3 </a:t>
            </a:r>
          </a:p>
          <a:p>
            <a:r>
              <a:rPr lang="en-US" sz="6300" b="1" dirty="0"/>
              <a:t>Cultivation of Fruit Crops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FB52F4-B183-419D-836A-82658DA3223E}"/>
              </a:ext>
            </a:extLst>
          </p:cNvPr>
          <p:cNvSpPr txBox="1">
            <a:spLocks/>
          </p:cNvSpPr>
          <p:nvPr/>
        </p:nvSpPr>
        <p:spPr>
          <a:xfrm>
            <a:off x="1634197" y="499232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77233-8DEE-485A-ACAF-55D6F104D0BB}"/>
              </a:ext>
            </a:extLst>
          </p:cNvPr>
          <p:cNvSpPr txBox="1"/>
          <p:nvPr/>
        </p:nvSpPr>
        <p:spPr>
          <a:xfrm>
            <a:off x="0" y="3976658"/>
            <a:ext cx="12192000" cy="10156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PAPAYA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83D16-01B8-441E-8658-08ED26024B0B}"/>
              </a:ext>
            </a:extLst>
          </p:cNvPr>
          <p:cNvSpPr txBox="1"/>
          <p:nvPr/>
        </p:nvSpPr>
        <p:spPr>
          <a:xfrm>
            <a:off x="8750104" y="5253931"/>
            <a:ext cx="344189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  <a:r>
              <a:rPr lang="en-US" sz="2000" b="1" u="sng" dirty="0"/>
              <a:t> By: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Harichandra Singh (Harish)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B.Sc.(Hons.) Agriculture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at SVBHSS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+977 9840213344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75BB548-A712-403A-B7A0-C65BB6D6F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6818E8B-E945-4476-ADF2-55A286330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EDF243-C3B2-4F6F-8B6C-9DE14115D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15664"/>
            <a:ext cx="3137163" cy="413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1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7E552-C340-4734-97AA-619F8F18B382}"/>
              </a:ext>
            </a:extLst>
          </p:cNvPr>
          <p:cNvSpPr txBox="1"/>
          <p:nvPr/>
        </p:nvSpPr>
        <p:spPr>
          <a:xfrm>
            <a:off x="2349305" y="1422994"/>
            <a:ext cx="73714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Area, Production &amp; Productivity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Soil &amp; Climate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Propagation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Cultivars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Nutrition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Training &amp; Pruning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Cultural Operation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Pest Management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Fruiting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Harvesting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Post Harvest Handling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Marketing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09B25-C8FE-4D89-AD8F-3014B3574897}"/>
              </a:ext>
            </a:extLst>
          </p:cNvPr>
          <p:cNvSpPr txBox="1"/>
          <p:nvPr/>
        </p:nvSpPr>
        <p:spPr>
          <a:xfrm>
            <a:off x="0" y="-196948"/>
            <a:ext cx="12192000" cy="1323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4000" b="1" u="sng" dirty="0">
              <a:solidFill>
                <a:srgbClr val="FF0000"/>
              </a:solidFill>
            </a:endParaRPr>
          </a:p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Content: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C2691-4E48-4582-92DF-265271F7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pic>
        <p:nvPicPr>
          <p:cNvPr id="2050" name="Picture 2" descr="Discount Hawaiian Tropical Carica ...">
            <a:extLst>
              <a:ext uri="{FF2B5EF4-FFF2-40B4-BE49-F238E27FC236}">
                <a16:creationId xmlns:a16="http://schemas.microsoft.com/office/drawing/2014/main" id="{C1F6DDF3-55D1-421B-B328-E69CF6B1C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620" y="1358393"/>
            <a:ext cx="4367387" cy="475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22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13547-3E3F-458F-927F-9CEB0E5D0876}"/>
              </a:ext>
            </a:extLst>
          </p:cNvPr>
          <p:cNvSpPr txBox="1"/>
          <p:nvPr/>
        </p:nvSpPr>
        <p:spPr>
          <a:xfrm>
            <a:off x="0" y="47830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C260F-7833-43A1-9CD1-B365EDD706E7}"/>
              </a:ext>
            </a:extLst>
          </p:cNvPr>
          <p:cNvSpPr txBox="1"/>
          <p:nvPr/>
        </p:nvSpPr>
        <p:spPr>
          <a:xfrm>
            <a:off x="436099" y="1406769"/>
            <a:ext cx="811354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Botanical Name: </a:t>
            </a:r>
            <a:r>
              <a:rPr lang="en-US" sz="2400" i="1" dirty="0" err="1"/>
              <a:t>Carica</a:t>
            </a:r>
            <a:r>
              <a:rPr lang="en-US" sz="2400" i="1" dirty="0"/>
              <a:t> papaya</a:t>
            </a:r>
            <a:r>
              <a:rPr lang="en-US" sz="2400" dirty="0"/>
              <a:t>			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Family: </a:t>
            </a:r>
            <a:r>
              <a:rPr lang="en-US" sz="2400" dirty="0" err="1"/>
              <a:t>Caricaceae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Origin: Lowlands of central America &amp; southern Mexico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It is a single, hollow-stemmed herbaceous dicot plant.</a:t>
            </a:r>
          </a:p>
          <a:p>
            <a:endParaRPr lang="en-US" sz="2400" dirty="0"/>
          </a:p>
          <a:p>
            <a:r>
              <a:rPr lang="en-US" sz="3200" b="1" dirty="0"/>
              <a:t>Importance: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is rich source of vitamin A (Beta carotene) &amp; Minerals.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Ripen fruits can be eaten fresh as breakfast &amp; dessert fruit.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can be processed as jelly, marmalade, candies, crystallized fruits etc.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also considered good for Jaundice patients.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Used for papain extraction etc.</a:t>
            </a:r>
          </a:p>
          <a:p>
            <a:endParaRPr lang="en-US" sz="2000" dirty="0"/>
          </a:p>
        </p:txBody>
      </p:sp>
      <p:pic>
        <p:nvPicPr>
          <p:cNvPr id="3074" name="Picture 2" descr="Using Papaya Fruit: How To Use Papaya ...">
            <a:extLst>
              <a:ext uri="{FF2B5EF4-FFF2-40B4-BE49-F238E27FC236}">
                <a16:creationId xmlns:a16="http://schemas.microsoft.com/office/drawing/2014/main" id="{268FEE9E-4BA4-4BAF-AC56-3CC0999CE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1" y="832244"/>
            <a:ext cx="3040378" cy="259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paya Leaves: Add papaya to your plate ...">
            <a:extLst>
              <a:ext uri="{FF2B5EF4-FFF2-40B4-BE49-F238E27FC236}">
                <a16:creationId xmlns:a16="http://schemas.microsoft.com/office/drawing/2014/main" id="{8AAA94D3-9BF1-4A0F-93B4-D1C1D0A8E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941" y="3782942"/>
            <a:ext cx="3040378" cy="255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06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847C1-DE35-4D8A-A39E-FA10A289F571}"/>
              </a:ext>
            </a:extLst>
          </p:cNvPr>
          <p:cNvSpPr txBox="1"/>
          <p:nvPr/>
        </p:nvSpPr>
        <p:spPr>
          <a:xfrm>
            <a:off x="0" y="53457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Area, Production &amp; Productivity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D1E30-33D0-4E7D-BB9C-1F94A5DA4F6B}"/>
              </a:ext>
            </a:extLst>
          </p:cNvPr>
          <p:cNvSpPr txBox="1"/>
          <p:nvPr/>
        </p:nvSpPr>
        <p:spPr>
          <a:xfrm>
            <a:off x="478303" y="1617785"/>
            <a:ext cx="11183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 Major papaya producing countries are Sri Lanka, South Africa, Australia, India, Nepal etc.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 In Nepal </a:t>
            </a:r>
            <a:r>
              <a:rPr lang="en-US" sz="2400" dirty="0" err="1"/>
              <a:t>Udayapur</a:t>
            </a:r>
            <a:r>
              <a:rPr lang="en-US" sz="2400" dirty="0"/>
              <a:t>, </a:t>
            </a:r>
            <a:r>
              <a:rPr lang="en-US" sz="2400" dirty="0" err="1"/>
              <a:t>Jhapa</a:t>
            </a:r>
            <a:r>
              <a:rPr lang="en-US" sz="2400" dirty="0"/>
              <a:t>, </a:t>
            </a:r>
            <a:r>
              <a:rPr lang="en-US" sz="2400" dirty="0" err="1"/>
              <a:t>Dhanusha</a:t>
            </a:r>
            <a:r>
              <a:rPr lang="en-US" sz="2400" dirty="0"/>
              <a:t>, </a:t>
            </a:r>
            <a:r>
              <a:rPr lang="en-US" sz="2400" dirty="0" err="1"/>
              <a:t>Mahottari</a:t>
            </a:r>
            <a:r>
              <a:rPr lang="en-US" sz="2400" dirty="0"/>
              <a:t>, </a:t>
            </a:r>
            <a:r>
              <a:rPr lang="en-US" sz="2400" dirty="0" err="1"/>
              <a:t>Kavre</a:t>
            </a:r>
            <a:r>
              <a:rPr lang="en-US" sz="2400" dirty="0"/>
              <a:t>, Dang, Kailali, </a:t>
            </a:r>
            <a:r>
              <a:rPr lang="en-US" sz="2400" dirty="0" err="1"/>
              <a:t>Kanchanpur</a:t>
            </a:r>
            <a:r>
              <a:rPr lang="en-US" sz="2400" dirty="0"/>
              <a:t>  are the major papaya producing districts.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err="1"/>
              <a:t>Kavre</a:t>
            </a:r>
            <a:r>
              <a:rPr lang="en-US" sz="2400" dirty="0"/>
              <a:t> has the maximum acreage.</a:t>
            </a:r>
          </a:p>
        </p:txBody>
      </p:sp>
      <p:pic>
        <p:nvPicPr>
          <p:cNvPr id="4098" name="Picture 2" descr="papaya farmers in Kenya ...">
            <a:extLst>
              <a:ext uri="{FF2B5EF4-FFF2-40B4-BE49-F238E27FC236}">
                <a16:creationId xmlns:a16="http://schemas.microsoft.com/office/drawing/2014/main" id="{8397F7D8-36BE-4ADE-9569-91E8EBDBA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500" y="3191016"/>
            <a:ext cx="3158197" cy="32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rowing Papayas for Export – Palmera">
            <a:extLst>
              <a:ext uri="{FF2B5EF4-FFF2-40B4-BE49-F238E27FC236}">
                <a16:creationId xmlns:a16="http://schemas.microsoft.com/office/drawing/2014/main" id="{94411BF1-EA69-413D-B9FA-E967EFDC8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39" y="3726180"/>
            <a:ext cx="3526961" cy="257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apaya Cultivation ...">
            <a:extLst>
              <a:ext uri="{FF2B5EF4-FFF2-40B4-BE49-F238E27FC236}">
                <a16:creationId xmlns:a16="http://schemas.microsoft.com/office/drawing/2014/main" id="{BC755CEA-FE07-44A0-8D1A-B41614187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096" y="3726180"/>
            <a:ext cx="3526961" cy="257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56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E8FD0-D168-461E-B941-970748750A57}"/>
              </a:ext>
            </a:extLst>
          </p:cNvPr>
          <p:cNvSpPr txBox="1"/>
          <p:nvPr/>
        </p:nvSpPr>
        <p:spPr>
          <a:xfrm>
            <a:off x="0" y="3419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Soil &amp; Climate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FB9A-8858-419A-A3FB-0A911EE6C6B0}"/>
              </a:ext>
            </a:extLst>
          </p:cNvPr>
          <p:cNvSpPr txBox="1"/>
          <p:nvPr/>
        </p:nvSpPr>
        <p:spPr>
          <a:xfrm>
            <a:off x="422031" y="1250350"/>
            <a:ext cx="112682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It can be cultivated in wide range of soil but loam and sandy loam is ideal for commercial cultivation.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The soil should have high OM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Good drainage facility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pH should be 6 - 7.5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Water logging exist over 48 hrs. cause collar rot.</a:t>
            </a:r>
          </a:p>
          <a:p>
            <a:pPr algn="just"/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It can be cultivated in tropical and subtropical region up to an altitude of 1000 MASL.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Ideal temperature is  22-26°C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It require a plenty of water, 150-200 cm annual rainfall.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Drought condition cause flower sterility and induce maleness.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Frost is harmful thus, &lt;10°C temperature is not suitable.</a:t>
            </a:r>
          </a:p>
        </p:txBody>
      </p:sp>
    </p:spTree>
    <p:extLst>
      <p:ext uri="{BB962C8B-B14F-4D97-AF65-F5344CB8AC3E}">
        <p14:creationId xmlns:p14="http://schemas.microsoft.com/office/powerpoint/2010/main" val="380037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848DD-7611-49AB-96A9-D509B19C73C7}"/>
              </a:ext>
            </a:extLst>
          </p:cNvPr>
          <p:cNvSpPr txBox="1"/>
          <p:nvPr/>
        </p:nvSpPr>
        <p:spPr>
          <a:xfrm>
            <a:off x="0" y="314737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Propagation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3A0D5-3625-41B5-A5A1-BD99432BE47A}"/>
              </a:ext>
            </a:extLst>
          </p:cNvPr>
          <p:cNvSpPr txBox="1"/>
          <p:nvPr/>
        </p:nvSpPr>
        <p:spPr>
          <a:xfrm>
            <a:off x="407962" y="1091203"/>
            <a:ext cx="113104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is propagated by seed.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Cutting &amp; Tissue culture is also followed.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Seed are sown in polybag or directly sown in a well prepared nursery bed at 15cm*20cm spacing.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Seedling become ready for transplanting when plant attain height of 15-20cm and have 4-5 leaves.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pic>
        <p:nvPicPr>
          <p:cNvPr id="5122" name="Picture 2" descr="Papaya propagation in India with Jiffy ...">
            <a:extLst>
              <a:ext uri="{FF2B5EF4-FFF2-40B4-BE49-F238E27FC236}">
                <a16:creationId xmlns:a16="http://schemas.microsoft.com/office/drawing/2014/main" id="{0D23B8AE-1722-438B-8790-25EEBBC7A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454" y="3511208"/>
            <a:ext cx="3124933" cy="276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evelopment of Papaya healthy seedlings ...">
            <a:extLst>
              <a:ext uri="{FF2B5EF4-FFF2-40B4-BE49-F238E27FC236}">
                <a16:creationId xmlns:a16="http://schemas.microsoft.com/office/drawing/2014/main" id="{26D1DC8E-A29B-4FEA-BED8-55B936C1F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" y="3511208"/>
            <a:ext cx="2861312" cy="276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apaya Air Layering Propagation ...">
            <a:extLst>
              <a:ext uri="{FF2B5EF4-FFF2-40B4-BE49-F238E27FC236}">
                <a16:creationId xmlns:a16="http://schemas.microsoft.com/office/drawing/2014/main" id="{7DCDC399-17EF-4B24-807E-38F6B519D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4" t="11910" r="1586" b="12275"/>
          <a:stretch/>
        </p:blipFill>
        <p:spPr bwMode="auto">
          <a:xfrm>
            <a:off x="4107766" y="3511207"/>
            <a:ext cx="4121834" cy="276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69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B9DCC-CDC0-4CAB-A333-05744443F939}"/>
              </a:ext>
            </a:extLst>
          </p:cNvPr>
          <p:cNvSpPr txBox="1"/>
          <p:nvPr/>
        </p:nvSpPr>
        <p:spPr>
          <a:xfrm>
            <a:off x="0" y="35694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Cultivars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683D8-F347-402E-93E8-831DA9F4C562}"/>
              </a:ext>
            </a:extLst>
          </p:cNvPr>
          <p:cNvSpPr txBox="1"/>
          <p:nvPr/>
        </p:nvSpPr>
        <p:spPr>
          <a:xfrm>
            <a:off x="440787" y="1351508"/>
            <a:ext cx="113104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 err="1">
                <a:highlight>
                  <a:srgbClr val="FFFF00"/>
                </a:highlight>
              </a:rPr>
              <a:t>Pusa</a:t>
            </a:r>
            <a:r>
              <a:rPr lang="en-US" sz="2400" b="1" dirty="0">
                <a:highlight>
                  <a:srgbClr val="FFFF00"/>
                </a:highlight>
              </a:rPr>
              <a:t> Delicious:-</a:t>
            </a:r>
            <a:r>
              <a:rPr lang="en-US" sz="2400" b="1" dirty="0"/>
              <a:t>  </a:t>
            </a:r>
            <a:r>
              <a:rPr lang="en-US" sz="2400" dirty="0"/>
              <a:t>Yield &amp; Quality of this variety is good. Excellent fruit taste. It is a </a:t>
            </a:r>
            <a:r>
              <a:rPr lang="en-US" sz="2400" dirty="0" err="1"/>
              <a:t>gynodioceous</a:t>
            </a:r>
            <a:r>
              <a:rPr lang="en-US" sz="2400" dirty="0"/>
              <a:t> (Hermaphrodite in one plant &amp; female on another plant) variety with 100% productive.</a:t>
            </a:r>
          </a:p>
          <a:p>
            <a:pPr marL="342900" indent="-342900" algn="just">
              <a:buAutoNum type="arabicPeriod"/>
            </a:pPr>
            <a:r>
              <a:rPr lang="en-US" sz="2400" b="1" dirty="0" err="1">
                <a:highlight>
                  <a:srgbClr val="FFFF00"/>
                </a:highlight>
              </a:rPr>
              <a:t>Pusa</a:t>
            </a:r>
            <a:r>
              <a:rPr lang="en-US" sz="2400" b="1" dirty="0">
                <a:highlight>
                  <a:srgbClr val="FFFF00"/>
                </a:highlight>
              </a:rPr>
              <a:t> Majesty</a:t>
            </a:r>
            <a:r>
              <a:rPr lang="en-US" sz="2400" b="1" dirty="0"/>
              <a:t>:- </a:t>
            </a:r>
            <a:r>
              <a:rPr lang="en-US" sz="2400" dirty="0"/>
              <a:t>It is High productivity &amp; better keeping quality of ripe fruit. Also </a:t>
            </a:r>
            <a:r>
              <a:rPr lang="en-US" sz="2400" dirty="0" err="1"/>
              <a:t>Gynodioceous</a:t>
            </a:r>
            <a:r>
              <a:rPr lang="en-US" sz="2400" dirty="0"/>
              <a:t> </a:t>
            </a:r>
            <a:r>
              <a:rPr lang="en-US" sz="2400" dirty="0" err="1"/>
              <a:t>vaiety</a:t>
            </a:r>
            <a:r>
              <a:rPr lang="en-US" sz="2400" dirty="0"/>
              <a:t> with rich source of papain. Resistant to papaya nematode.</a:t>
            </a:r>
          </a:p>
          <a:p>
            <a:pPr marL="342900" indent="-342900" algn="just">
              <a:buAutoNum type="arabicPeriod"/>
            </a:pPr>
            <a:r>
              <a:rPr lang="en-US" sz="2400" b="1" dirty="0" err="1">
                <a:highlight>
                  <a:srgbClr val="FFFF00"/>
                </a:highlight>
              </a:rPr>
              <a:t>Pusa</a:t>
            </a:r>
            <a:r>
              <a:rPr lang="en-US" sz="2400" b="1" dirty="0">
                <a:highlight>
                  <a:srgbClr val="FFFF00"/>
                </a:highlight>
              </a:rPr>
              <a:t> Giant</a:t>
            </a:r>
            <a:r>
              <a:rPr lang="en-US" sz="2400" dirty="0"/>
              <a:t>:- It is a vigorous dioecious variety with good size of fruits. Tolerant to strong winds &amp; storms.</a:t>
            </a:r>
          </a:p>
          <a:p>
            <a:pPr marL="342900" indent="-342900" algn="just">
              <a:buAutoNum type="arabicPeriod"/>
            </a:pPr>
            <a:r>
              <a:rPr lang="en-US" sz="2400" b="1" dirty="0" err="1">
                <a:highlight>
                  <a:srgbClr val="FFFF00"/>
                </a:highlight>
              </a:rPr>
              <a:t>Pusa</a:t>
            </a:r>
            <a:r>
              <a:rPr lang="en-US" sz="2400" b="1" dirty="0">
                <a:highlight>
                  <a:srgbClr val="FFFF00"/>
                </a:highlight>
              </a:rPr>
              <a:t> Dwarf</a:t>
            </a:r>
            <a:r>
              <a:rPr lang="en-US" sz="2400" dirty="0"/>
              <a:t>:-  Medium sized fruit with oval shape which is preferred by consumers.</a:t>
            </a:r>
          </a:p>
          <a:p>
            <a:pPr marL="342900" indent="-342900" algn="just">
              <a:buAutoNum type="arabicPeriod"/>
            </a:pPr>
            <a:r>
              <a:rPr lang="en-US" sz="2400" b="1" dirty="0" err="1">
                <a:highlight>
                  <a:srgbClr val="FFFF00"/>
                </a:highlight>
              </a:rPr>
              <a:t>Pusa</a:t>
            </a:r>
            <a:r>
              <a:rPr lang="en-US" sz="2400" b="1" dirty="0">
                <a:highlight>
                  <a:srgbClr val="FFFF00"/>
                </a:highlight>
              </a:rPr>
              <a:t> </a:t>
            </a:r>
            <a:r>
              <a:rPr lang="en-US" sz="2400" b="1" dirty="0" err="1">
                <a:highlight>
                  <a:srgbClr val="FFFF00"/>
                </a:highlight>
              </a:rPr>
              <a:t>nanha</a:t>
            </a:r>
            <a:r>
              <a:rPr lang="en-US" sz="2400" b="1" dirty="0">
                <a:highlight>
                  <a:srgbClr val="FFFF00"/>
                </a:highlight>
              </a:rPr>
              <a:t> </a:t>
            </a:r>
            <a:r>
              <a:rPr lang="en-US" sz="2400" dirty="0"/>
              <a:t>(mutant dwarf):- Extremely dioecious suitable for kitchen gardening, pot &amp; roof cultivation. Ideal for high density orcharding.</a:t>
            </a:r>
          </a:p>
          <a:p>
            <a:pPr marL="342900" indent="-342900" algn="just">
              <a:buAutoNum type="arabicPeriod"/>
            </a:pPr>
            <a:r>
              <a:rPr lang="en-US" sz="2400" b="1" dirty="0">
                <a:highlight>
                  <a:srgbClr val="FFFF00"/>
                </a:highlight>
              </a:rPr>
              <a:t>Washington:- </a:t>
            </a:r>
            <a:r>
              <a:rPr lang="en-US" sz="2400" dirty="0"/>
              <a:t>Plants are vigorous, stem &amp; leaf stalks are with purple tinge, fruit are medium to large, round to ovate with good </a:t>
            </a:r>
            <a:r>
              <a:rPr lang="en-US" sz="2400" dirty="0" err="1"/>
              <a:t>flavour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632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77FA-9FB3-4A36-9172-2EF5EAA0D313}"/>
              </a:ext>
            </a:extLst>
          </p:cNvPr>
          <p:cNvSpPr txBox="1"/>
          <p:nvPr/>
        </p:nvSpPr>
        <p:spPr>
          <a:xfrm>
            <a:off x="0" y="41279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Planting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7A0E6-E7EC-4228-ABFB-4BCEE5C80E7B}"/>
              </a:ext>
            </a:extLst>
          </p:cNvPr>
          <p:cNvSpPr txBox="1"/>
          <p:nvPr/>
        </p:nvSpPr>
        <p:spPr>
          <a:xfrm>
            <a:off x="412652" y="1120676"/>
            <a:ext cx="1136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Planting of papaya is done during monsoon season (</a:t>
            </a:r>
            <a:r>
              <a:rPr lang="en-US" sz="2400" dirty="0" err="1"/>
              <a:t>Asar</a:t>
            </a:r>
            <a:r>
              <a:rPr lang="en-US" sz="2400" dirty="0"/>
              <a:t> - </a:t>
            </a:r>
            <a:r>
              <a:rPr lang="en-US" sz="2400" dirty="0" err="1"/>
              <a:t>Saun</a:t>
            </a:r>
            <a:r>
              <a:rPr lang="en-US" sz="2400" dirty="0"/>
              <a:t>) / (June- July)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The pit size of 1-1.5 cubic feet should be dug at 1.8*1.8m or 2.4*2.4m apart &amp; filled with top soil mixed with 5kg of FYM, 100gm of neem cake &amp; 40gm of SSP.</a:t>
            </a:r>
          </a:p>
        </p:txBody>
      </p:sp>
      <p:pic>
        <p:nvPicPr>
          <p:cNvPr id="6146" name="Picture 2" descr="Papaya Seed Germination, Period ...">
            <a:extLst>
              <a:ext uri="{FF2B5EF4-FFF2-40B4-BE49-F238E27FC236}">
                <a16:creationId xmlns:a16="http://schemas.microsoft.com/office/drawing/2014/main" id="{1D42F987-EF1D-4B45-A905-59C970833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880" y="2673090"/>
            <a:ext cx="2886808" cy="327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paya air layering method ...">
            <a:extLst>
              <a:ext uri="{FF2B5EF4-FFF2-40B4-BE49-F238E27FC236}">
                <a16:creationId xmlns:a16="http://schemas.microsoft.com/office/drawing/2014/main" id="{630952DE-B97F-4BC3-936A-3EEBDFF1C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408" y="2673090"/>
            <a:ext cx="5820727" cy="32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64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77FA-9FB3-4A36-9172-2EF5EAA0D313}"/>
              </a:ext>
            </a:extLst>
          </p:cNvPr>
          <p:cNvSpPr txBox="1"/>
          <p:nvPr/>
        </p:nvSpPr>
        <p:spPr>
          <a:xfrm>
            <a:off x="64770" y="159527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Nutrition</a:t>
            </a:r>
          </a:p>
        </p:txBody>
      </p:sp>
      <p:pic>
        <p:nvPicPr>
          <p:cNvPr id="7172" name="Picture 4" descr="Papaya | HerbaZest">
            <a:extLst>
              <a:ext uri="{FF2B5EF4-FFF2-40B4-BE49-F238E27FC236}">
                <a16:creationId xmlns:a16="http://schemas.microsoft.com/office/drawing/2014/main" id="{1590EFFA-AD8F-4C9F-8825-64AB19923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020" y="1057711"/>
            <a:ext cx="6537960" cy="509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82623-0C4A-4F3A-B4E7-453E0CCB04AB}"/>
              </a:ext>
            </a:extLst>
          </p:cNvPr>
          <p:cNvSpPr txBox="1"/>
          <p:nvPr/>
        </p:nvSpPr>
        <p:spPr>
          <a:xfrm>
            <a:off x="0" y="371008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Training &amp; Pruning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DF840-ADE7-4279-951A-FDE0BC6B056B}"/>
              </a:ext>
            </a:extLst>
          </p:cNvPr>
          <p:cNvSpPr txBox="1"/>
          <p:nvPr/>
        </p:nvSpPr>
        <p:spPr>
          <a:xfrm>
            <a:off x="520506" y="1345223"/>
            <a:ext cx="1102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Papaya plants do not require special training &amp; pruning, however, during heavy fruiting, some supports can be provided to avoid breakage &amp; lodging of plant.</a:t>
            </a:r>
          </a:p>
        </p:txBody>
      </p:sp>
    </p:spTree>
    <p:extLst>
      <p:ext uri="{BB962C8B-B14F-4D97-AF65-F5344CB8AC3E}">
        <p14:creationId xmlns:p14="http://schemas.microsoft.com/office/powerpoint/2010/main" val="2964303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492369" y="1859470"/>
            <a:ext cx="112541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The recommended dose of compost, nitrogen, phosphorus and potassium should be: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Compost: 25kg per plant per year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Nitrogen: Phosphorus: Potassium: 400:250:400 g/plant/year.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The fertilizer application is done in 2 splits; one in </a:t>
            </a:r>
            <a:r>
              <a:rPr lang="en-US" sz="2400" dirty="0" err="1"/>
              <a:t>Shrawan</a:t>
            </a:r>
            <a:r>
              <a:rPr lang="en-US" sz="2400" dirty="0"/>
              <a:t>/Bhadra and other split in </a:t>
            </a:r>
            <a:r>
              <a:rPr lang="en-US" sz="2400" dirty="0" err="1"/>
              <a:t>Falgun</a:t>
            </a:r>
            <a:r>
              <a:rPr lang="en-US" sz="2400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3251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Cultural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EFC55-C616-4582-9C8C-7B029C106256}"/>
              </a:ext>
            </a:extLst>
          </p:cNvPr>
          <p:cNvSpPr txBox="1"/>
          <p:nvPr/>
        </p:nvSpPr>
        <p:spPr>
          <a:xfrm>
            <a:off x="-32825" y="103301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A. Manure &amp; Fertilizer 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5F0E6-9164-459D-8BC8-E30FFDDDD84F}"/>
              </a:ext>
            </a:extLst>
          </p:cNvPr>
          <p:cNvSpPr txBox="1"/>
          <p:nvPr/>
        </p:nvSpPr>
        <p:spPr>
          <a:xfrm>
            <a:off x="-218050" y="368603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B. Intercropping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7024A-D03E-46EB-A9FA-A76FEE01F431}"/>
              </a:ext>
            </a:extLst>
          </p:cNvPr>
          <p:cNvSpPr txBox="1"/>
          <p:nvPr/>
        </p:nvSpPr>
        <p:spPr>
          <a:xfrm>
            <a:off x="651803" y="4173777"/>
            <a:ext cx="10888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No intercrop should be taken when flowering and fruiting starts.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Intercropping of leguminous crop after non leguminous one, shallow-rooted crops after non-leguminous one and shallow-rooted crops after deep rooted ones are gainful. </a:t>
            </a:r>
          </a:p>
        </p:txBody>
      </p:sp>
    </p:spTree>
    <p:extLst>
      <p:ext uri="{BB962C8B-B14F-4D97-AF65-F5344CB8AC3E}">
        <p14:creationId xmlns:p14="http://schemas.microsoft.com/office/powerpoint/2010/main" val="26339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618978" y="1617785"/>
            <a:ext cx="108883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Irrigation depend upon soil type and availability of water.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Irrigation is necessary during flowering stage.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Irrigation is required at 5-6 days interval in summer and 10-15 days interval in winter by adopting ring method.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Water logging condition is avoided from the base of the plant. (Rotting of rhizomes)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32512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Cultural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2F307-5F63-4509-92A4-442C0309DE33}"/>
              </a:ext>
            </a:extLst>
          </p:cNvPr>
          <p:cNvSpPr txBox="1"/>
          <p:nvPr/>
        </p:nvSpPr>
        <p:spPr>
          <a:xfrm>
            <a:off x="-32825" y="103301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C. Irrigation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29DDA-A1AE-4578-B9C1-8EEDE995A7E4}"/>
              </a:ext>
            </a:extLst>
          </p:cNvPr>
          <p:cNvSpPr txBox="1"/>
          <p:nvPr/>
        </p:nvSpPr>
        <p:spPr>
          <a:xfrm>
            <a:off x="-32825" y="38207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D. Weeding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B8BFE-A932-42E9-A5EC-B9B72D644984}"/>
              </a:ext>
            </a:extLst>
          </p:cNvPr>
          <p:cNvSpPr txBox="1"/>
          <p:nvPr/>
        </p:nvSpPr>
        <p:spPr>
          <a:xfrm>
            <a:off x="618978" y="4669524"/>
            <a:ext cx="10888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Deep hoeing is recommended during the first year to check weed growth. Weeding should be done on regular basis especially around the plants.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Earthing  up is done before or after the onset of monsoon to avoid water-logging and also help the plants to stand erect.</a:t>
            </a:r>
          </a:p>
        </p:txBody>
      </p:sp>
    </p:spTree>
    <p:extLst>
      <p:ext uri="{BB962C8B-B14F-4D97-AF65-F5344CB8AC3E}">
        <p14:creationId xmlns:p14="http://schemas.microsoft.com/office/powerpoint/2010/main" val="301329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490024" y="1316655"/>
            <a:ext cx="112119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/>
              <a:t>Collar rot ( stem rot):- 		</a:t>
            </a:r>
            <a:r>
              <a:rPr lang="en-US" sz="2400" dirty="0"/>
              <a:t>Causal organism: Fungus </a:t>
            </a:r>
          </a:p>
          <a:p>
            <a:pPr algn="just"/>
            <a:r>
              <a:rPr lang="en-US" sz="2400" dirty="0" err="1"/>
              <a:t>S.n</a:t>
            </a:r>
            <a:r>
              <a:rPr lang="en-US" sz="2400" dirty="0"/>
              <a:t>.: </a:t>
            </a:r>
            <a:r>
              <a:rPr lang="en-US" sz="2400" i="1" dirty="0"/>
              <a:t>Pythium </a:t>
            </a:r>
            <a:r>
              <a:rPr lang="en-US" sz="2400" i="1" dirty="0" err="1"/>
              <a:t>aphanidermatum</a:t>
            </a:r>
            <a:r>
              <a:rPr lang="en-US" sz="2400" i="1" dirty="0"/>
              <a:t> </a:t>
            </a:r>
          </a:p>
          <a:p>
            <a:pPr algn="just"/>
            <a:r>
              <a:rPr lang="en-US" sz="2400" b="1" dirty="0"/>
              <a:t>Symptoms: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Water soaked patches appear on the </a:t>
            </a:r>
            <a:r>
              <a:rPr lang="en-US" sz="2400" dirty="0" err="1"/>
              <a:t>colar</a:t>
            </a:r>
            <a:r>
              <a:rPr lang="en-US" sz="2400" dirty="0"/>
              <a:t> region of the plant.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Later on the patches appear in large size and cause rotting of tissue. The pant fall and die in severe condition. </a:t>
            </a:r>
          </a:p>
          <a:p>
            <a:pPr algn="just"/>
            <a:r>
              <a:rPr lang="en-US" sz="2400" b="1" dirty="0"/>
              <a:t>Control: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Avoid water logging condition in field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Uproot and destroy the affected plant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Application of Trichoderma </a:t>
            </a:r>
            <a:r>
              <a:rPr lang="en-US" sz="2400" dirty="0" err="1"/>
              <a:t>viridae</a:t>
            </a:r>
            <a:r>
              <a:rPr lang="en-US" sz="2400" dirty="0"/>
              <a:t> (15 g/plant) mixed in well decomposed FYM should be applied around the root zone of the plants at the time of planting.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At the initial stage, scrap the infected part and apply Bordeaux paste.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Disease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459291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A4567D-223E-4DC6-97D4-C6E22D35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pic>
        <p:nvPicPr>
          <p:cNvPr id="10242" name="Picture 2" descr="Banana Xanthomonas wilt - Wikipedia">
            <a:extLst>
              <a:ext uri="{FF2B5EF4-FFF2-40B4-BE49-F238E27FC236}">
                <a16:creationId xmlns:a16="http://schemas.microsoft.com/office/drawing/2014/main" id="{8485EEB6-E3C1-4925-94C2-9E87A652D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411480"/>
            <a:ext cx="10789920" cy="566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17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490024" y="1316655"/>
            <a:ext cx="112119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2. Anthracnose:-</a:t>
            </a:r>
            <a:r>
              <a:rPr lang="en-US" sz="2400" dirty="0"/>
              <a:t>		 Causal organism: Fungus </a:t>
            </a:r>
          </a:p>
          <a:p>
            <a:pPr algn="just"/>
            <a:r>
              <a:rPr lang="en-US" sz="2400" dirty="0" err="1"/>
              <a:t>S.n</a:t>
            </a:r>
            <a:r>
              <a:rPr lang="en-US" sz="2400" dirty="0"/>
              <a:t> : </a:t>
            </a:r>
            <a:r>
              <a:rPr lang="en-US" sz="2400" i="1" dirty="0"/>
              <a:t>Colletotrichum </a:t>
            </a:r>
            <a:r>
              <a:rPr lang="en-US" sz="2400" i="1" dirty="0" err="1"/>
              <a:t>gloeosporioides</a:t>
            </a:r>
            <a:r>
              <a:rPr lang="en-US" sz="2400" i="1" dirty="0"/>
              <a:t> </a:t>
            </a:r>
          </a:p>
          <a:p>
            <a:pPr algn="just"/>
            <a:r>
              <a:rPr lang="en-US" sz="2400" b="1" dirty="0"/>
              <a:t>Symptoms: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Small black spots appear on the leaves and fruits.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The spots increase in size, penetrating and rotting the internal flesh.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The affected leaves fall pre-maturely. </a:t>
            </a:r>
          </a:p>
          <a:p>
            <a:pPr algn="just"/>
            <a:r>
              <a:rPr lang="en-US" sz="2400" b="1" dirty="0"/>
              <a:t>Control: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Collect and destroy infected leaves and fruits.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The fruits should be harvested as soon as they mature.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Spaying with Copper Oxychloride (3 g/</a:t>
            </a:r>
            <a:r>
              <a:rPr lang="en-US" sz="2400" dirty="0" err="1"/>
              <a:t>litre</a:t>
            </a:r>
            <a:r>
              <a:rPr lang="en-US" sz="2400" dirty="0"/>
              <a:t> of water) or Carbendazim (1 g/</a:t>
            </a:r>
            <a:r>
              <a:rPr lang="en-US" sz="2400" dirty="0" err="1"/>
              <a:t>litre</a:t>
            </a:r>
            <a:r>
              <a:rPr lang="en-US" sz="2400" dirty="0"/>
              <a:t> of water) at 15 days interval effectively controls the disease.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Disease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13624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4B8F99-D701-4326-B44C-A9BAF933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pic>
        <p:nvPicPr>
          <p:cNvPr id="11266" name="Picture 2" descr="Banana bunchy top virus - Wikipedia">
            <a:extLst>
              <a:ext uri="{FF2B5EF4-FFF2-40B4-BE49-F238E27FC236}">
                <a16:creationId xmlns:a16="http://schemas.microsoft.com/office/drawing/2014/main" id="{6D95B77D-B2CB-4529-A40C-0B1AEBFB0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82" y="628650"/>
            <a:ext cx="5234378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Banana Bunchy Top Virus - Big Island Invasive Species Committee (BIISC)">
            <a:extLst>
              <a:ext uri="{FF2B5EF4-FFF2-40B4-BE49-F238E27FC236}">
                <a16:creationId xmlns:a16="http://schemas.microsoft.com/office/drawing/2014/main" id="{DFCA74E2-083C-441F-A49D-1BE52B93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628650"/>
            <a:ext cx="5234377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06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490024" y="1316655"/>
            <a:ext cx="112119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3. Leaf curl 		</a:t>
            </a:r>
            <a:r>
              <a:rPr lang="en-US" sz="2400" dirty="0"/>
              <a:t>Causal organism: Leaf Curl Virus 	</a:t>
            </a:r>
          </a:p>
          <a:p>
            <a:pPr algn="just"/>
            <a:r>
              <a:rPr lang="en-US" sz="2400" dirty="0"/>
              <a:t>Vector: White fly (</a:t>
            </a:r>
            <a:r>
              <a:rPr lang="en-US" sz="2400" dirty="0" err="1"/>
              <a:t>Bemisia</a:t>
            </a:r>
            <a:r>
              <a:rPr lang="en-US" sz="2400" dirty="0"/>
              <a:t> </a:t>
            </a:r>
            <a:r>
              <a:rPr lang="en-US" sz="2400" dirty="0" err="1"/>
              <a:t>tabaci</a:t>
            </a:r>
            <a:r>
              <a:rPr lang="en-US" sz="2400" dirty="0"/>
              <a:t>)</a:t>
            </a:r>
          </a:p>
          <a:p>
            <a:pPr algn="just"/>
            <a:r>
              <a:rPr lang="en-US" sz="2400" dirty="0"/>
              <a:t> </a:t>
            </a:r>
            <a:r>
              <a:rPr lang="en-US" sz="2400" b="1" dirty="0"/>
              <a:t>Symptoms: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Curling and bending of leaves takes place which cause reduction in the leaves size.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The leaf margin rolled downward and the affected leaves become zigzag.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Later on defoliation takes place. </a:t>
            </a:r>
          </a:p>
          <a:p>
            <a:pPr algn="just"/>
            <a:r>
              <a:rPr lang="en-US" sz="2400" b="1" dirty="0"/>
              <a:t>Control: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Collect and destroy the infected part of the plant.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Removal and destruction of the affected plants is the only control measure to reduce the spread of the disease.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Checking the population of white flies also can reduce the infection severity.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Disease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837927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F2878F-7FB2-43BE-B54C-B1DC8D47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A4B0EF56-3E95-447D-8587-D5611DF6A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597758"/>
            <a:ext cx="10629900" cy="566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442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618978" y="1617785"/>
            <a:ext cx="108883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/>
              <a:t>Rhizome Weevil:</a:t>
            </a:r>
          </a:p>
          <a:p>
            <a:pPr algn="just"/>
            <a:r>
              <a:rPr lang="en-US" sz="2000" dirty="0"/>
              <a:t>The larva feed on and make tunnel in the rhizome. Tunnel may go one meter up into the stem.</a:t>
            </a:r>
          </a:p>
          <a:p>
            <a:pPr algn="just"/>
            <a:r>
              <a:rPr lang="en-US" sz="2400" b="1" dirty="0"/>
              <a:t>Symptoms: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Leaves turn yellow, wither and die prematurely.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Other pathogens attack the weakened plant, which eventually dies.</a:t>
            </a:r>
          </a:p>
          <a:p>
            <a:pPr algn="just"/>
            <a:endParaRPr lang="en-US" sz="2000" dirty="0"/>
          </a:p>
          <a:p>
            <a:pPr algn="just"/>
            <a:r>
              <a:rPr lang="en-US" sz="2400" b="1" dirty="0"/>
              <a:t>Management: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Dip plant material in </a:t>
            </a:r>
            <a:r>
              <a:rPr lang="en-US" sz="2000" dirty="0" err="1"/>
              <a:t>Monocrotophos</a:t>
            </a:r>
            <a:r>
              <a:rPr lang="en-US" sz="2000" dirty="0"/>
              <a:t> (0.1%) before planting.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Dust </a:t>
            </a:r>
            <a:r>
              <a:rPr lang="en-US" sz="2000" dirty="0" err="1"/>
              <a:t>Chloropyriphos</a:t>
            </a:r>
            <a:r>
              <a:rPr lang="en-US" sz="2000" dirty="0"/>
              <a:t> 100g/pit at the time of planting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Maintain good sanitation by trapping, dipping and field treatment.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Pest Management</a:t>
            </a:r>
          </a:p>
        </p:txBody>
      </p:sp>
    </p:spTree>
    <p:extLst>
      <p:ext uri="{BB962C8B-B14F-4D97-AF65-F5344CB8AC3E}">
        <p14:creationId xmlns:p14="http://schemas.microsoft.com/office/powerpoint/2010/main" val="385886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E4D61-1236-456A-8CD5-AF21B9F0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97875CE-FC6F-430A-A025-3281F3728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833183"/>
            <a:ext cx="7658100" cy="519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311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534572" y="1308296"/>
            <a:ext cx="108883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2. Pseudo-stem Weevil:</a:t>
            </a:r>
          </a:p>
          <a:p>
            <a:pPr algn="just"/>
            <a:r>
              <a:rPr lang="en-US" sz="2400" b="1" dirty="0"/>
              <a:t>Symptoms: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The grub feed on the leaf sheath initially, then bore into the pseudo-stem which becomes weak and rots, causing plants to die.</a:t>
            </a:r>
          </a:p>
          <a:p>
            <a:pPr algn="just"/>
            <a:endParaRPr lang="en-US" sz="2000" dirty="0"/>
          </a:p>
          <a:p>
            <a:pPr algn="just"/>
            <a:r>
              <a:rPr lang="en-US" sz="2400" b="1" dirty="0"/>
              <a:t>Management: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Dip plant material in </a:t>
            </a:r>
            <a:r>
              <a:rPr lang="en-US" sz="2000" dirty="0" err="1"/>
              <a:t>Monocrotophos</a:t>
            </a:r>
            <a:r>
              <a:rPr lang="en-US" sz="2000" dirty="0"/>
              <a:t> (0.1%) before planting.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Dust </a:t>
            </a:r>
            <a:r>
              <a:rPr lang="en-US" sz="2000" dirty="0" err="1"/>
              <a:t>Chloropyriphos</a:t>
            </a:r>
            <a:r>
              <a:rPr lang="en-US" sz="2000" dirty="0"/>
              <a:t> 100g/pit at the time of planting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Maintain good sanitation by trapping, dipping and field treatment.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Pest Management</a:t>
            </a:r>
          </a:p>
        </p:txBody>
      </p:sp>
    </p:spTree>
    <p:extLst>
      <p:ext uri="{BB962C8B-B14F-4D97-AF65-F5344CB8AC3E}">
        <p14:creationId xmlns:p14="http://schemas.microsoft.com/office/powerpoint/2010/main" val="900631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0192C5-34E6-4BB7-83B1-D718C6FE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Harichandra Singh {B.Sc.(Hons.) Agriculture}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CB06DAD-5EA1-4328-8C92-775F2359C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86329"/>
            <a:ext cx="3326130" cy="562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134B0DCE-CEAA-4E20-9209-35D72195D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953" y="386330"/>
            <a:ext cx="4709474" cy="562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496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398584" y="1380965"/>
            <a:ext cx="113948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Normally, banana plant flower in 8-12 MAP &amp; require 3-4 Month for maturity.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Banana flowers in clusters, each may have 12-20 flowers.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Basal nodes have female flowers, upper ones mostly male flowers.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Fruit is berry type and usually seedless (</a:t>
            </a:r>
            <a:r>
              <a:rPr lang="en-US" sz="2400" dirty="0" err="1"/>
              <a:t>Parthenocarpic</a:t>
            </a:r>
            <a:r>
              <a:rPr lang="en-US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35694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Fruiting</a:t>
            </a:r>
          </a:p>
        </p:txBody>
      </p:sp>
      <p:pic>
        <p:nvPicPr>
          <p:cNvPr id="15362" name="Picture 2" descr="Banana An Efficient Crop for ...">
            <a:extLst>
              <a:ext uri="{FF2B5EF4-FFF2-40B4-BE49-F238E27FC236}">
                <a16:creationId xmlns:a16="http://schemas.microsoft.com/office/drawing/2014/main" id="{AEACDF84-F2D6-47E2-AA69-121FCCEC0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3" y="3205209"/>
            <a:ext cx="4080716" cy="294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Bananas: More Than A Yellow Frou Frou ...">
            <a:extLst>
              <a:ext uri="{FF2B5EF4-FFF2-40B4-BE49-F238E27FC236}">
                <a16:creationId xmlns:a16="http://schemas.microsoft.com/office/drawing/2014/main" id="{2394D6AE-940B-4962-8A8A-3063C518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446" y="3205209"/>
            <a:ext cx="2965134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Growing Bananas - How To Grow Banana ...">
            <a:extLst>
              <a:ext uri="{FF2B5EF4-FFF2-40B4-BE49-F238E27FC236}">
                <a16:creationId xmlns:a16="http://schemas.microsoft.com/office/drawing/2014/main" id="{326BFCF2-28AC-456F-82F7-43C810F60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793" y="3205208"/>
            <a:ext cx="2965134" cy="294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384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440787" y="1012874"/>
            <a:ext cx="113104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Dwarf varieties are harvested after 12-15 months while tall ones are after 15-18 month of planting.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The whole bunch is harvested when fingers are plump and light green and corners are rounded rather than angular.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For export or distant market it should be harvest at green stage when fingers are well developed but still angular.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Banana produces 10-25 MT of fruits/ha/crop.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Yield may go up to 20-55 MT/ha.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18659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Harvesting &amp; Yield</a:t>
            </a:r>
          </a:p>
        </p:txBody>
      </p:sp>
      <p:pic>
        <p:nvPicPr>
          <p:cNvPr id="16386" name="Picture 2" descr="Man Harvesting Bananas · Free Stock Photo">
            <a:extLst>
              <a:ext uri="{FF2B5EF4-FFF2-40B4-BE49-F238E27FC236}">
                <a16:creationId xmlns:a16="http://schemas.microsoft.com/office/drawing/2014/main" id="{1D33C820-B516-4EBF-B4C9-E27C70959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260" y="3246120"/>
            <a:ext cx="2431952" cy="309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Farmer Harvesting Bananas Banana ...">
            <a:extLst>
              <a:ext uri="{FF2B5EF4-FFF2-40B4-BE49-F238E27FC236}">
                <a16:creationId xmlns:a16="http://schemas.microsoft.com/office/drawing/2014/main" id="{710F043D-3BC4-47B1-B95B-47049B36D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564" y="4229100"/>
            <a:ext cx="3335655" cy="211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614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567396" y="1191435"/>
            <a:ext cx="110572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After harvesting of banana, we must store them at suitable location depend upon purpose of storage.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Banana can be stored for 3 weeks at 13-15°C at 85-95% RH.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Storage can be prolonged when treated with wax emulsion.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Simple polythene bagging with 0.2% holes extends storage life by one week at room temperature.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Banana fruit may be induced to quick ripening by providing smoke in storage room.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Dumping of banana bunches in closed rooms for a few days allows natural ripening with good color.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/>
              <a:t>Smoking from burning straw, dried leaves etc. in a room or in pits will ripen banana within 3-5 days.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38507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Post Harvest Handling </a:t>
            </a:r>
          </a:p>
        </p:txBody>
      </p:sp>
      <p:pic>
        <p:nvPicPr>
          <p:cNvPr id="17410" name="Picture 2" descr="Harvesting, packing and storing bananas ...">
            <a:extLst>
              <a:ext uri="{FF2B5EF4-FFF2-40B4-BE49-F238E27FC236}">
                <a16:creationId xmlns:a16="http://schemas.microsoft.com/office/drawing/2014/main" id="{49445F60-6555-4DA9-98A8-E4FB6DCFF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56979" y="3585510"/>
            <a:ext cx="1981015" cy="332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Post-Harvest Ripening of Banana and ...">
            <a:extLst>
              <a:ext uri="{FF2B5EF4-FFF2-40B4-BE49-F238E27FC236}">
                <a16:creationId xmlns:a16="http://schemas.microsoft.com/office/drawing/2014/main" id="{AF7A7CBB-2800-4E3D-8B19-CE2063E1B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6" y="4259496"/>
            <a:ext cx="3114674" cy="198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Effect of Post-Harvest Handling and ...">
            <a:extLst>
              <a:ext uri="{FF2B5EF4-FFF2-40B4-BE49-F238E27FC236}">
                <a16:creationId xmlns:a16="http://schemas.microsoft.com/office/drawing/2014/main" id="{99F84929-D25F-4025-9C1B-CFC770F11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785" y="4259950"/>
            <a:ext cx="2867025" cy="198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77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618978" y="1617785"/>
            <a:ext cx="10888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Banana has National &amp; International demands, so that we can supply those market.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To get higher price bunches must be graded properly based on fingers per hand or bunch, finger size and shape, varietal trueness etc.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48354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Marketing</a:t>
            </a:r>
          </a:p>
        </p:txBody>
      </p:sp>
      <p:pic>
        <p:nvPicPr>
          <p:cNvPr id="18434" name="Picture 2" descr="banana trade Archives - Global Trade ...">
            <a:extLst>
              <a:ext uri="{FF2B5EF4-FFF2-40B4-BE49-F238E27FC236}">
                <a16:creationId xmlns:a16="http://schemas.microsoft.com/office/drawing/2014/main" id="{953F3D80-3BAE-4C4B-9032-3641DF543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" y="3038272"/>
            <a:ext cx="2971800" cy="301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Bananas top consumer preference among ...">
            <a:extLst>
              <a:ext uri="{FF2B5EF4-FFF2-40B4-BE49-F238E27FC236}">
                <a16:creationId xmlns:a16="http://schemas.microsoft.com/office/drawing/2014/main" id="{D126C3BC-1BA4-458D-ABDA-E7C8BBAD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243" y="3038272"/>
            <a:ext cx="3761863" cy="301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Americans love bananas: Why bananas ...">
            <a:extLst>
              <a:ext uri="{FF2B5EF4-FFF2-40B4-BE49-F238E27FC236}">
                <a16:creationId xmlns:a16="http://schemas.microsoft.com/office/drawing/2014/main" id="{1186E74E-5D21-440A-9B52-DD8073CC3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71" y="3038272"/>
            <a:ext cx="2971801" cy="301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410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45ABE2-A355-46EF-A991-8520AE8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44530"/>
            <a:ext cx="12192000" cy="376946"/>
          </a:xfrm>
        </p:spPr>
        <p:txBody>
          <a:bodyPr/>
          <a:lstStyle/>
          <a:p>
            <a:r>
              <a:rPr lang="en-US" sz="1800" dirty="0">
                <a:solidFill>
                  <a:srgbClr val="002060"/>
                </a:solidFill>
                <a:latin typeface="Monotype Corsiva" panose="03010101010201010101" pitchFamily="66" charset="0"/>
              </a:rPr>
              <a:t>Prepared By: Harichandra Singh {B.Sc.(Hons.) Agriculture}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28FB3-47D0-4C81-9ED7-A2170CD4C803}"/>
              </a:ext>
            </a:extLst>
          </p:cNvPr>
          <p:cNvSpPr txBox="1"/>
          <p:nvPr/>
        </p:nvSpPr>
        <p:spPr>
          <a:xfrm>
            <a:off x="548639" y="2250831"/>
            <a:ext cx="1088839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FF0000"/>
                </a:solidFill>
              </a:rPr>
              <a:t>Any Question ???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81A5A-CF3E-4011-A291-9EFD9A3C7821}"/>
              </a:ext>
            </a:extLst>
          </p:cNvPr>
          <p:cNvSpPr txBox="1"/>
          <p:nvPr/>
        </p:nvSpPr>
        <p:spPr>
          <a:xfrm>
            <a:off x="0" y="933715"/>
            <a:ext cx="1219200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Thank You For Your Attention……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FD458-B57F-4FDF-BA5B-F63E512332DB}"/>
              </a:ext>
            </a:extLst>
          </p:cNvPr>
          <p:cNvSpPr txBox="1"/>
          <p:nvPr/>
        </p:nvSpPr>
        <p:spPr>
          <a:xfrm>
            <a:off x="548639" y="4667012"/>
            <a:ext cx="10888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See You In Next Class !!</a:t>
            </a:r>
          </a:p>
        </p:txBody>
      </p:sp>
    </p:spTree>
    <p:extLst>
      <p:ext uri="{BB962C8B-B14F-4D97-AF65-F5344CB8AC3E}">
        <p14:creationId xmlns:p14="http://schemas.microsoft.com/office/powerpoint/2010/main" val="41092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1967</Words>
  <Application>Microsoft Office PowerPoint</Application>
  <PresentationFormat>Widescreen</PresentationFormat>
  <Paragraphs>197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Monotype Corsiva</vt:lpstr>
      <vt:lpstr>Times New Roman</vt:lpstr>
      <vt:lpstr>Wingdings</vt:lpstr>
      <vt:lpstr>Office Theme</vt:lpstr>
      <vt:lpstr>Commercial Fruit Crop Production and Post-Harvest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Fruit Crop Production and Post-Harvest Technology</dc:title>
  <dc:creator>Harichandra Singh</dc:creator>
  <cp:lastModifiedBy>Harichandra Singh</cp:lastModifiedBy>
  <cp:revision>63</cp:revision>
  <dcterms:created xsi:type="dcterms:W3CDTF">2025-01-14T05:53:55Z</dcterms:created>
  <dcterms:modified xsi:type="dcterms:W3CDTF">2025-01-26T16:38:11Z</dcterms:modified>
</cp:coreProperties>
</file>