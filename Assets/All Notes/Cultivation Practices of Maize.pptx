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0415BA-BCB6-4501-8E7B-C54AAC01619A}" type="datetimeFigureOut">
              <a:rPr lang="en-US" smtClean="0"/>
              <a:t>11/11/2024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5770231-A997-4E13-8CF9-97951903526B}"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9286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0415BA-BCB6-4501-8E7B-C54AAC01619A}"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70231-A997-4E13-8CF9-97951903526B}"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9025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0415BA-BCB6-4501-8E7B-C54AAC01619A}"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70231-A997-4E13-8CF9-97951903526B}"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14299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0415BA-BCB6-4501-8E7B-C54AAC01619A}"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70231-A997-4E13-8CF9-97951903526B}"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3769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0415BA-BCB6-4501-8E7B-C54AAC01619A}" type="datetimeFigureOut">
              <a:rPr lang="en-US" smtClean="0"/>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770231-A997-4E13-8CF9-97951903526B}"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70545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0415BA-BCB6-4501-8E7B-C54AAC01619A}" type="datetimeFigureOut">
              <a:rPr lang="en-US" smtClean="0"/>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770231-A997-4E13-8CF9-97951903526B}"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52968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0415BA-BCB6-4501-8E7B-C54AAC01619A}" type="datetimeFigureOut">
              <a:rPr lang="en-US" smtClean="0"/>
              <a:t>11/11/2024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770231-A997-4E13-8CF9-97951903526B}" type="slidenum">
              <a:rPr lang="en-US" smtClean="0"/>
              <a:t>‹#›</a:t>
            </a:fld>
            <a:endParaRPr lang="en-US"/>
          </a:p>
        </p:txBody>
      </p:sp>
    </p:spTree>
    <p:extLst>
      <p:ext uri="{BB962C8B-B14F-4D97-AF65-F5344CB8AC3E}">
        <p14:creationId xmlns:p14="http://schemas.microsoft.com/office/powerpoint/2010/main" val="89692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0415BA-BCB6-4501-8E7B-C54AAC01619A}"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70231-A997-4E13-8CF9-97951903526B}"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3513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40415BA-BCB6-4501-8E7B-C54AAC01619A}" type="datetimeFigureOut">
              <a:rPr lang="en-US" smtClean="0"/>
              <a:t>11/11/2024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5770231-A997-4E13-8CF9-97951903526B}"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75228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0415BA-BCB6-4501-8E7B-C54AAC01619A}"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70231-A997-4E13-8CF9-97951903526B}"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6127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0415BA-BCB6-4501-8E7B-C54AAC01619A}"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70231-A997-4E13-8CF9-97951903526B}"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29203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40415BA-BCB6-4501-8E7B-C54AAC01619A}" type="datetimeFigureOut">
              <a:rPr lang="en-US" smtClean="0"/>
              <a:t>11/11/2024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5770231-A997-4E13-8CF9-97951903526B}"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14824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501B2-6665-4082-991C-84B0EE37922B}"/>
              </a:ext>
            </a:extLst>
          </p:cNvPr>
          <p:cNvSpPr>
            <a:spLocks noGrp="1"/>
          </p:cNvSpPr>
          <p:nvPr>
            <p:ph type="ctrTitle"/>
          </p:nvPr>
        </p:nvSpPr>
        <p:spPr>
          <a:xfrm>
            <a:off x="59635" y="0"/>
            <a:ext cx="12072730" cy="1376363"/>
          </a:xfrm>
        </p:spPr>
        <p:txBody>
          <a:bodyPr>
            <a:noAutofit/>
          </a:bodyPr>
          <a:lstStyle/>
          <a:p>
            <a:pPr algn="ctr"/>
            <a:r>
              <a:rPr lang="en-US" sz="4800" b="1" dirty="0"/>
              <a:t>Cultivation Practices of Maize</a:t>
            </a:r>
          </a:p>
        </p:txBody>
      </p:sp>
      <p:sp>
        <p:nvSpPr>
          <p:cNvPr id="3" name="Subtitle 2">
            <a:extLst>
              <a:ext uri="{FF2B5EF4-FFF2-40B4-BE49-F238E27FC236}">
                <a16:creationId xmlns:a16="http://schemas.microsoft.com/office/drawing/2014/main" id="{6BF7F6BC-297C-406E-B3B2-E14A5616E737}"/>
              </a:ext>
            </a:extLst>
          </p:cNvPr>
          <p:cNvSpPr>
            <a:spLocks noGrp="1"/>
          </p:cNvSpPr>
          <p:nvPr>
            <p:ph type="subTitle" idx="1"/>
          </p:nvPr>
        </p:nvSpPr>
        <p:spPr>
          <a:xfrm>
            <a:off x="1524000" y="4508572"/>
            <a:ext cx="9144000" cy="1655762"/>
          </a:xfrm>
        </p:spPr>
        <p:txBody>
          <a:bodyPr/>
          <a:lstStyle/>
          <a:p>
            <a:pPr algn="ctr"/>
            <a:r>
              <a:rPr lang="en-US" b="1" u="sng" dirty="0"/>
              <a:t>Prepared By:</a:t>
            </a:r>
            <a:r>
              <a:rPr lang="en-US" dirty="0"/>
              <a:t> </a:t>
            </a:r>
          </a:p>
          <a:p>
            <a:pPr algn="ctr"/>
            <a:r>
              <a:rPr lang="en-US" dirty="0"/>
              <a:t>Harichandra Singh (</a:t>
            </a:r>
            <a:r>
              <a:rPr lang="en-US" dirty="0" err="1"/>
              <a:t>B.Sc.Ag</a:t>
            </a:r>
            <a:r>
              <a:rPr lang="en-US" dirty="0"/>
              <a:t>)</a:t>
            </a:r>
          </a:p>
        </p:txBody>
      </p:sp>
      <p:pic>
        <p:nvPicPr>
          <p:cNvPr id="1026" name="Picture 2" descr="Maize Nutrition Facts - Keshrinandan ...">
            <a:extLst>
              <a:ext uri="{FF2B5EF4-FFF2-40B4-BE49-F238E27FC236}">
                <a16:creationId xmlns:a16="http://schemas.microsoft.com/office/drawing/2014/main" id="{71D9334B-46FB-4F02-82B2-04E0947D74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072" t="10847" r="-622" b="13815"/>
          <a:stretch/>
        </p:blipFill>
        <p:spPr bwMode="auto">
          <a:xfrm>
            <a:off x="4101548" y="1521547"/>
            <a:ext cx="3988904" cy="1907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7877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A4B2A9-5718-4FD5-8CCA-471A86EB1923}"/>
              </a:ext>
            </a:extLst>
          </p:cNvPr>
          <p:cNvSpPr txBox="1"/>
          <p:nvPr/>
        </p:nvSpPr>
        <p:spPr>
          <a:xfrm>
            <a:off x="715617" y="636104"/>
            <a:ext cx="10946296" cy="5262979"/>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Maize</a:t>
            </a:r>
          </a:p>
          <a:p>
            <a:pPr algn="ctr"/>
            <a:endParaRPr lang="en-US" sz="4400" b="1"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S.N: </a:t>
            </a:r>
            <a:r>
              <a:rPr lang="en-US" sz="3200" i="1" dirty="0" err="1">
                <a:latin typeface="Times New Roman" panose="02020603050405020304" pitchFamily="18" charset="0"/>
                <a:cs typeface="Times New Roman" panose="02020603050405020304" pitchFamily="18" charset="0"/>
              </a:rPr>
              <a:t>Zea</a:t>
            </a:r>
            <a:r>
              <a:rPr lang="en-US" sz="3200" i="1"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mays</a:t>
            </a:r>
          </a:p>
          <a:p>
            <a:r>
              <a:rPr lang="en-US" sz="2800" dirty="0">
                <a:latin typeface="Times New Roman" panose="02020603050405020304" pitchFamily="18" charset="0"/>
                <a:cs typeface="Times New Roman" panose="02020603050405020304" pitchFamily="18" charset="0"/>
              </a:rPr>
              <a:t>Family: Gramineae or </a:t>
            </a:r>
            <a:r>
              <a:rPr lang="en-US" sz="2800" dirty="0" err="1">
                <a:latin typeface="Times New Roman" panose="02020603050405020304" pitchFamily="18" charset="0"/>
                <a:cs typeface="Times New Roman" panose="02020603050405020304" pitchFamily="18" charset="0"/>
              </a:rPr>
              <a:t>Poaceae</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Origin: Central America and </a:t>
            </a:r>
            <a:r>
              <a:rPr lang="en-US" sz="2800" dirty="0" err="1">
                <a:latin typeface="Times New Roman" panose="02020603050405020304" pitchFamily="18" charset="0"/>
                <a:cs typeface="Times New Roman" panose="02020603050405020304" pitchFamily="18" charset="0"/>
              </a:rPr>
              <a:t>Maxico</a:t>
            </a:r>
            <a:endParaRPr lang="en-US" sz="28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3200" b="1" u="sng" dirty="0">
                <a:latin typeface="Times New Roman" panose="02020603050405020304" pitchFamily="18" charset="0"/>
                <a:cs typeface="Times New Roman" panose="02020603050405020304" pitchFamily="18" charset="0"/>
              </a:rPr>
              <a:t>Importance:</a:t>
            </a: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is used as human food and livestock feed.</a:t>
            </a: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is used to prepare many food items and beverage called </a:t>
            </a:r>
            <a:r>
              <a:rPr lang="en-US" sz="2800" dirty="0" err="1">
                <a:latin typeface="Times New Roman" panose="02020603050405020304" pitchFamily="18" charset="0"/>
                <a:cs typeface="Times New Roman" panose="02020603050405020304" pitchFamily="18" charset="0"/>
              </a:rPr>
              <a:t>Jand</a:t>
            </a:r>
            <a:r>
              <a:rPr lang="en-US" sz="2800" dirty="0">
                <a:latin typeface="Times New Roman" panose="02020603050405020304" pitchFamily="18" charset="0"/>
                <a:cs typeface="Times New Roman" panose="02020603050405020304" pitchFamily="18" charset="0"/>
              </a:rPr>
              <a:t> and </a:t>
            </a:r>
            <a:r>
              <a:rPr lang="en-US" sz="2800" dirty="0" err="1">
                <a:latin typeface="Times New Roman" panose="02020603050405020304" pitchFamily="18" charset="0"/>
                <a:cs typeface="Times New Roman" panose="02020603050405020304" pitchFamily="18" charset="0"/>
              </a:rPr>
              <a:t>raksi</a:t>
            </a:r>
            <a:r>
              <a:rPr lang="en-US" sz="2800" dirty="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is also used to making plain bread (ideal food for diabetic person)</a:t>
            </a: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contain about 70% carbohydrates, 10% crude protein, 38% oil etc.</a:t>
            </a:r>
          </a:p>
        </p:txBody>
      </p:sp>
      <p:pic>
        <p:nvPicPr>
          <p:cNvPr id="2050" name="Picture 2" descr="All the latest data on maize production ...">
            <a:extLst>
              <a:ext uri="{FF2B5EF4-FFF2-40B4-BE49-F238E27FC236}">
                <a16:creationId xmlns:a16="http://schemas.microsoft.com/office/drawing/2014/main" id="{AB393FD4-F409-4677-8E4F-C42573E06B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5004" y="1481378"/>
            <a:ext cx="4361379" cy="2450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723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92C414-7A6C-4892-9696-7CC6F535B017}"/>
              </a:ext>
            </a:extLst>
          </p:cNvPr>
          <p:cNvSpPr txBox="1"/>
          <p:nvPr/>
        </p:nvSpPr>
        <p:spPr>
          <a:xfrm>
            <a:off x="742122" y="263127"/>
            <a:ext cx="10628243" cy="5663089"/>
          </a:xfrm>
          <a:prstGeom prst="rect">
            <a:avLst/>
          </a:prstGeom>
          <a:noFill/>
        </p:spPr>
        <p:txBody>
          <a:bodyPr wrap="square" rtlCol="0">
            <a:spAutoFit/>
          </a:bodyPr>
          <a:lstStyle/>
          <a:p>
            <a:r>
              <a:rPr lang="en-US" sz="3200" b="1" u="sng" dirty="0"/>
              <a:t>Distribution of Maize in Nepal:</a:t>
            </a:r>
          </a:p>
          <a:p>
            <a:pPr marL="285750" indent="-285750">
              <a:buFont typeface="Wingdings" panose="05000000000000000000" pitchFamily="2" charset="2"/>
              <a:buChar char="Ø"/>
            </a:pPr>
            <a:r>
              <a:rPr lang="en-US" sz="2800" dirty="0"/>
              <a:t>It occupies second position after rice in Nepal.</a:t>
            </a:r>
          </a:p>
          <a:p>
            <a:pPr marL="285750" indent="-285750">
              <a:buFont typeface="Wingdings" panose="05000000000000000000" pitchFamily="2" charset="2"/>
              <a:buChar char="Ø"/>
            </a:pPr>
            <a:r>
              <a:rPr lang="en-US" sz="2800" dirty="0"/>
              <a:t>It is cultivated from terai to high hills.</a:t>
            </a:r>
          </a:p>
          <a:p>
            <a:pPr marL="285750" indent="-285750">
              <a:buFont typeface="Wingdings" panose="05000000000000000000" pitchFamily="2" charset="2"/>
              <a:buChar char="Ø"/>
            </a:pPr>
            <a:r>
              <a:rPr lang="en-US" sz="2800" dirty="0"/>
              <a:t>Highest production in </a:t>
            </a:r>
            <a:r>
              <a:rPr lang="en-US" sz="2800" dirty="0" err="1"/>
              <a:t>Koshi</a:t>
            </a:r>
            <a:r>
              <a:rPr lang="en-US" sz="2800" dirty="0"/>
              <a:t> province</a:t>
            </a:r>
          </a:p>
          <a:p>
            <a:pPr marL="285750" indent="-285750">
              <a:buFont typeface="Wingdings" panose="05000000000000000000" pitchFamily="2" charset="2"/>
              <a:buChar char="Ø"/>
            </a:pPr>
            <a:r>
              <a:rPr lang="en-US" sz="2800" dirty="0"/>
              <a:t>Maximum Area covered by </a:t>
            </a:r>
            <a:r>
              <a:rPr lang="en-US" sz="2800" dirty="0" err="1"/>
              <a:t>Koshi</a:t>
            </a:r>
            <a:r>
              <a:rPr lang="en-US" sz="2800" dirty="0"/>
              <a:t> Province</a:t>
            </a:r>
          </a:p>
          <a:p>
            <a:pPr marL="285750" indent="-285750">
              <a:buFont typeface="Wingdings" panose="05000000000000000000" pitchFamily="2" charset="2"/>
              <a:buChar char="Ø"/>
            </a:pPr>
            <a:r>
              <a:rPr lang="en-US" sz="2800" dirty="0"/>
              <a:t>Highest Productivity in </a:t>
            </a:r>
            <a:r>
              <a:rPr lang="en-US" sz="2800" dirty="0" err="1"/>
              <a:t>Madhesh</a:t>
            </a:r>
            <a:r>
              <a:rPr lang="en-US" sz="2800" dirty="0"/>
              <a:t> Province</a:t>
            </a:r>
          </a:p>
          <a:p>
            <a:pPr marL="285750" indent="-285750">
              <a:buFont typeface="Wingdings" panose="05000000000000000000" pitchFamily="2" charset="2"/>
              <a:buChar char="Ø"/>
            </a:pPr>
            <a:endParaRPr lang="en-US" sz="2800" dirty="0"/>
          </a:p>
          <a:p>
            <a:r>
              <a:rPr lang="en-US" sz="3200" b="1" dirty="0"/>
              <a:t>Varieties:</a:t>
            </a:r>
          </a:p>
          <a:p>
            <a:r>
              <a:rPr lang="en-US" sz="2800" b="1" dirty="0"/>
              <a:t>For Terai Region: </a:t>
            </a:r>
            <a:r>
              <a:rPr lang="en-US" sz="2800" dirty="0"/>
              <a:t>Arun-2 (Early 80-90 DAS), Rampur-2, Rampur-4</a:t>
            </a:r>
          </a:p>
          <a:p>
            <a:r>
              <a:rPr lang="en-US" sz="2800" b="1" dirty="0"/>
              <a:t>For Mid Hills:</a:t>
            </a:r>
            <a:r>
              <a:rPr lang="en-US" sz="2800" dirty="0"/>
              <a:t> Manakamana-1, Mankamana-3</a:t>
            </a:r>
          </a:p>
          <a:p>
            <a:r>
              <a:rPr lang="en-US" sz="2800" b="1" dirty="0"/>
              <a:t>For High Hills: </a:t>
            </a:r>
            <a:r>
              <a:rPr lang="en-US" sz="2800" dirty="0"/>
              <a:t>Ganesh-1, Ganesh-2</a:t>
            </a:r>
          </a:p>
          <a:p>
            <a:r>
              <a:rPr lang="en-US" sz="2800" b="1" dirty="0"/>
              <a:t>Highest Productivity: </a:t>
            </a:r>
            <a:r>
              <a:rPr lang="en-US" sz="2800" dirty="0"/>
              <a:t>Rampur Hybrid 12, F1 (9.44Mt/ha)</a:t>
            </a:r>
          </a:p>
          <a:p>
            <a:endParaRPr lang="en-US" dirty="0"/>
          </a:p>
        </p:txBody>
      </p:sp>
      <p:pic>
        <p:nvPicPr>
          <p:cNvPr id="3074" name="Picture 2" descr="Diabetes Diet Tips &amp; Benefits ...">
            <a:extLst>
              <a:ext uri="{FF2B5EF4-FFF2-40B4-BE49-F238E27FC236}">
                <a16:creationId xmlns:a16="http://schemas.microsoft.com/office/drawing/2014/main" id="{1AE04BDC-EC9E-4490-9DDF-FB647CEBD8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3740" y="1331429"/>
            <a:ext cx="4214190" cy="2360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603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274B38-5FAA-40E9-A7BF-DA5A34C427B9}"/>
              </a:ext>
            </a:extLst>
          </p:cNvPr>
          <p:cNvSpPr txBox="1"/>
          <p:nvPr/>
        </p:nvSpPr>
        <p:spPr>
          <a:xfrm>
            <a:off x="609600" y="450574"/>
            <a:ext cx="10972800" cy="4585871"/>
          </a:xfrm>
          <a:prstGeom prst="rect">
            <a:avLst/>
          </a:prstGeom>
          <a:noFill/>
        </p:spPr>
        <p:txBody>
          <a:bodyPr wrap="square" rtlCol="0">
            <a:spAutoFit/>
          </a:bodyPr>
          <a:lstStyle/>
          <a:p>
            <a:r>
              <a:rPr lang="en-US" sz="3200" b="1" u="sng" dirty="0"/>
              <a:t>Temperature:</a:t>
            </a:r>
          </a:p>
          <a:p>
            <a:r>
              <a:rPr lang="en-US" sz="2800" dirty="0"/>
              <a:t>Ideal temperature for maize crop is 20-24 °C</a:t>
            </a:r>
          </a:p>
          <a:p>
            <a:r>
              <a:rPr lang="en-US" sz="2800" dirty="0"/>
              <a:t>Below 14°C and Above 47°C and low humidity have negative impacts on crops.</a:t>
            </a:r>
          </a:p>
          <a:p>
            <a:endParaRPr lang="en-US" sz="1600" dirty="0"/>
          </a:p>
          <a:p>
            <a:endParaRPr lang="en-US" sz="1600" dirty="0"/>
          </a:p>
          <a:p>
            <a:r>
              <a:rPr lang="en-US" sz="3200" b="1" u="sng" dirty="0"/>
              <a:t>Cropping Pattern:</a:t>
            </a:r>
          </a:p>
          <a:p>
            <a:r>
              <a:rPr lang="en-US" sz="2800" dirty="0"/>
              <a:t>Maize-Wheat 		Terai/Hills</a:t>
            </a:r>
          </a:p>
          <a:p>
            <a:r>
              <a:rPr lang="en-US" sz="2800" dirty="0"/>
              <a:t>Maize-Mustard		Terai/Hills</a:t>
            </a:r>
          </a:p>
          <a:p>
            <a:r>
              <a:rPr lang="en-US" sz="2800" dirty="0"/>
              <a:t>Maize-Potato		Hills</a:t>
            </a:r>
          </a:p>
          <a:p>
            <a:r>
              <a:rPr lang="en-US" sz="2800" dirty="0"/>
              <a:t>Maize + beans – Barley	Hills</a:t>
            </a:r>
          </a:p>
        </p:txBody>
      </p:sp>
      <p:pic>
        <p:nvPicPr>
          <p:cNvPr id="4098" name="Picture 2" descr="Import levy on potatoes and maize increased">
            <a:extLst>
              <a:ext uri="{FF2B5EF4-FFF2-40B4-BE49-F238E27FC236}">
                <a16:creationId xmlns:a16="http://schemas.microsoft.com/office/drawing/2014/main" id="{237A57E4-AC52-47BA-893C-523391E2D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3579" y="2094175"/>
            <a:ext cx="5110495" cy="3360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9174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FCB936-A89C-4573-B633-C53E7D93C18E}"/>
              </a:ext>
            </a:extLst>
          </p:cNvPr>
          <p:cNvSpPr txBox="1"/>
          <p:nvPr/>
        </p:nvSpPr>
        <p:spPr>
          <a:xfrm>
            <a:off x="649356" y="622853"/>
            <a:ext cx="11118574" cy="4893647"/>
          </a:xfrm>
          <a:prstGeom prst="rect">
            <a:avLst/>
          </a:prstGeom>
          <a:noFill/>
        </p:spPr>
        <p:txBody>
          <a:bodyPr wrap="square" rtlCol="0">
            <a:spAutoFit/>
          </a:bodyPr>
          <a:lstStyle/>
          <a:p>
            <a:pPr algn="just"/>
            <a:r>
              <a:rPr lang="en-US" sz="2800" b="1" u="sng" dirty="0"/>
              <a:t>Field Preparation:</a:t>
            </a:r>
          </a:p>
          <a:p>
            <a:pPr marL="457200" indent="-457200" algn="just">
              <a:buFont typeface="Wingdings" panose="05000000000000000000" pitchFamily="2" charset="2"/>
              <a:buChar char="Ø"/>
            </a:pPr>
            <a:r>
              <a:rPr lang="en-US" sz="2400" dirty="0"/>
              <a:t>Maize crop needs a well aerated, moist and weed free field.</a:t>
            </a:r>
          </a:p>
          <a:p>
            <a:pPr marL="457200" indent="-457200" algn="just">
              <a:buFont typeface="Wingdings" panose="05000000000000000000" pitchFamily="2" charset="2"/>
              <a:buChar char="Ø"/>
            </a:pPr>
            <a:r>
              <a:rPr lang="en-US" sz="2400" dirty="0"/>
              <a:t>First Ploughing is done for loosening 20-25 cm deep soil.</a:t>
            </a:r>
          </a:p>
          <a:p>
            <a:pPr marL="457200" indent="-457200" algn="just">
              <a:buFont typeface="Wingdings" panose="05000000000000000000" pitchFamily="2" charset="2"/>
              <a:buChar char="Ø"/>
            </a:pPr>
            <a:r>
              <a:rPr lang="en-US" sz="2400" dirty="0"/>
              <a:t>2-3 harrowing if followed and proper leveled field is required.</a:t>
            </a:r>
          </a:p>
          <a:p>
            <a:pPr algn="just"/>
            <a:endParaRPr lang="en-US" sz="1600" dirty="0"/>
          </a:p>
          <a:p>
            <a:pPr algn="just"/>
            <a:r>
              <a:rPr lang="en-US" sz="2800" b="1" u="sng" dirty="0"/>
              <a:t>Manure &amp; Fertilizer:</a:t>
            </a:r>
          </a:p>
          <a:p>
            <a:pPr marL="457200" indent="-457200" algn="just">
              <a:buFont typeface="Wingdings" panose="05000000000000000000" pitchFamily="2" charset="2"/>
              <a:buChar char="Ø"/>
            </a:pPr>
            <a:r>
              <a:rPr lang="en-US" sz="2400" dirty="0"/>
              <a:t>It required 10-20 tons of well-decomposed OM (2-3 week before sowing)</a:t>
            </a:r>
          </a:p>
          <a:p>
            <a:pPr marL="457200" indent="-457200" algn="just">
              <a:buFont typeface="Wingdings" panose="05000000000000000000" pitchFamily="2" charset="2"/>
              <a:buChar char="Ø"/>
            </a:pPr>
            <a:r>
              <a:rPr lang="en-US" sz="2400" dirty="0"/>
              <a:t>Recommended dose of NPK</a:t>
            </a:r>
          </a:p>
          <a:p>
            <a:pPr marL="457200" indent="-457200" algn="just">
              <a:buFont typeface="Wingdings" panose="05000000000000000000" pitchFamily="2" charset="2"/>
              <a:buChar char="Ø"/>
            </a:pPr>
            <a:r>
              <a:rPr lang="en-US" sz="2400" dirty="0"/>
              <a:t>The dose of NPK and other fertilizer is  required based on nutrient status of the soil. So, we should apply the fertilizer after soil testing. In General we followed following dose;</a:t>
            </a:r>
          </a:p>
          <a:p>
            <a:pPr marL="457200" indent="-457200" algn="just">
              <a:buFont typeface="Wingdings" panose="05000000000000000000" pitchFamily="2" charset="2"/>
              <a:buChar char="Ø"/>
            </a:pPr>
            <a:r>
              <a:rPr lang="en-US" sz="2400" dirty="0"/>
              <a:t>For open pollinated variety  120:60:40</a:t>
            </a:r>
          </a:p>
          <a:p>
            <a:pPr marL="457200" indent="-457200" algn="just">
              <a:buFont typeface="Wingdings" panose="05000000000000000000" pitchFamily="2" charset="2"/>
              <a:buChar char="Ø"/>
            </a:pPr>
            <a:r>
              <a:rPr lang="en-US" sz="2400" dirty="0"/>
              <a:t>For hybrid variety 150:60:60</a:t>
            </a:r>
          </a:p>
        </p:txBody>
      </p:sp>
    </p:spTree>
    <p:extLst>
      <p:ext uri="{BB962C8B-B14F-4D97-AF65-F5344CB8AC3E}">
        <p14:creationId xmlns:p14="http://schemas.microsoft.com/office/powerpoint/2010/main" val="13766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4F5CC-4535-4064-B310-56D8D89FD1FC}"/>
              </a:ext>
            </a:extLst>
          </p:cNvPr>
          <p:cNvSpPr txBox="1"/>
          <p:nvPr/>
        </p:nvSpPr>
        <p:spPr>
          <a:xfrm>
            <a:off x="675861" y="609600"/>
            <a:ext cx="10946296" cy="4708981"/>
          </a:xfrm>
          <a:prstGeom prst="rect">
            <a:avLst/>
          </a:prstGeom>
          <a:noFill/>
        </p:spPr>
        <p:txBody>
          <a:bodyPr wrap="square" rtlCol="0">
            <a:spAutoFit/>
          </a:bodyPr>
          <a:lstStyle/>
          <a:p>
            <a:r>
              <a:rPr lang="en-US" sz="2800" b="1" u="sng" dirty="0"/>
              <a:t>Seed &amp; Sowing:</a:t>
            </a:r>
          </a:p>
          <a:p>
            <a:pPr marL="285750" indent="-285750" algn="just">
              <a:buFont typeface="Wingdings" panose="05000000000000000000" pitchFamily="2" charset="2"/>
              <a:buChar char="Ø"/>
            </a:pPr>
            <a:r>
              <a:rPr lang="en-US" sz="2400" dirty="0"/>
              <a:t>Seed rate for maize crop is 18-20 Kg/ha</a:t>
            </a:r>
          </a:p>
          <a:p>
            <a:pPr marL="285750" indent="-285750" algn="just">
              <a:buFont typeface="Wingdings" panose="05000000000000000000" pitchFamily="2" charset="2"/>
              <a:buChar char="Ø"/>
            </a:pPr>
            <a:r>
              <a:rPr lang="en-US" sz="2400" dirty="0"/>
              <a:t>Certified seeds of improved varieties should be selected for higher yield.</a:t>
            </a:r>
          </a:p>
          <a:p>
            <a:pPr marL="285750" indent="-285750" algn="just">
              <a:buFont typeface="Wingdings" panose="05000000000000000000" pitchFamily="2" charset="2"/>
              <a:buChar char="Ø"/>
            </a:pPr>
            <a:r>
              <a:rPr lang="en-US" sz="2400" dirty="0"/>
              <a:t>Appropriate plant spacing is 60 cm R*R &amp; 20-25 Cm P*P.</a:t>
            </a:r>
          </a:p>
          <a:p>
            <a:pPr marL="285750" indent="-285750" algn="just">
              <a:buFont typeface="Wingdings" panose="05000000000000000000" pitchFamily="2" charset="2"/>
              <a:buChar char="Ø"/>
            </a:pPr>
            <a:r>
              <a:rPr lang="en-US" sz="2400" dirty="0"/>
              <a:t>Time of Planting </a:t>
            </a:r>
            <a:r>
              <a:rPr lang="en-US" sz="2400" dirty="0" err="1"/>
              <a:t>Asar</a:t>
            </a:r>
            <a:r>
              <a:rPr lang="en-US" sz="2400" dirty="0"/>
              <a:t> to </a:t>
            </a:r>
            <a:r>
              <a:rPr lang="en-US" sz="2400" dirty="0" err="1"/>
              <a:t>Saun</a:t>
            </a:r>
            <a:r>
              <a:rPr lang="en-US" sz="2400" dirty="0"/>
              <a:t> ( June-July)</a:t>
            </a:r>
          </a:p>
          <a:p>
            <a:pPr marL="285750" indent="-285750" algn="just">
              <a:buFont typeface="Wingdings" panose="05000000000000000000" pitchFamily="2" charset="2"/>
              <a:buChar char="Ø"/>
            </a:pPr>
            <a:r>
              <a:rPr lang="en-US" sz="2400" dirty="0"/>
              <a:t>Seed treatment by fungicide like </a:t>
            </a:r>
            <a:r>
              <a:rPr lang="en-US" sz="2400" dirty="0" err="1"/>
              <a:t>bevistin</a:t>
            </a:r>
            <a:r>
              <a:rPr lang="en-US" sz="2400" dirty="0"/>
              <a:t>.</a:t>
            </a:r>
          </a:p>
          <a:p>
            <a:pPr marL="285750" indent="-285750" algn="just">
              <a:buFont typeface="Wingdings" panose="05000000000000000000" pitchFamily="2" charset="2"/>
              <a:buChar char="Ø"/>
            </a:pPr>
            <a:endParaRPr lang="en-US" sz="2400" dirty="0"/>
          </a:p>
          <a:p>
            <a:pPr algn="just"/>
            <a:r>
              <a:rPr lang="en-US" sz="3200" b="1" u="sng" dirty="0"/>
              <a:t>Water Management:</a:t>
            </a:r>
          </a:p>
          <a:p>
            <a:pPr marL="457200" indent="-457200" algn="just">
              <a:buFont typeface="Wingdings" panose="05000000000000000000" pitchFamily="2" charset="2"/>
              <a:buChar char="Ø"/>
            </a:pPr>
            <a:r>
              <a:rPr lang="en-US" sz="2400" dirty="0"/>
              <a:t>Provide proper drainage facility.</a:t>
            </a:r>
          </a:p>
          <a:p>
            <a:pPr marL="457200" indent="-457200" algn="just">
              <a:buFont typeface="Wingdings" panose="05000000000000000000" pitchFamily="2" charset="2"/>
              <a:buChar char="Ø"/>
            </a:pPr>
            <a:r>
              <a:rPr lang="en-US" sz="2400" dirty="0"/>
              <a:t>During Emergence</a:t>
            </a:r>
          </a:p>
          <a:p>
            <a:pPr marL="457200" indent="-457200" algn="just">
              <a:buFont typeface="Wingdings" panose="05000000000000000000" pitchFamily="2" charset="2"/>
              <a:buChar char="Ø"/>
            </a:pPr>
            <a:r>
              <a:rPr lang="en-US" sz="2400" dirty="0"/>
              <a:t>Vegetative growth</a:t>
            </a:r>
          </a:p>
          <a:p>
            <a:pPr marL="457200" indent="-457200" algn="just">
              <a:buFont typeface="Wingdings" panose="05000000000000000000" pitchFamily="2" charset="2"/>
              <a:buChar char="Ø"/>
            </a:pPr>
            <a:r>
              <a:rPr lang="en-US" sz="2400" dirty="0"/>
              <a:t>Tasseling &amp; Silking (Most Critical Stage)</a:t>
            </a:r>
          </a:p>
        </p:txBody>
      </p:sp>
      <p:pic>
        <p:nvPicPr>
          <p:cNvPr id="5122" name="Picture 2" descr="1,137 Sowing Maize Crop Stock Photos ...">
            <a:extLst>
              <a:ext uri="{FF2B5EF4-FFF2-40B4-BE49-F238E27FC236}">
                <a16:creationId xmlns:a16="http://schemas.microsoft.com/office/drawing/2014/main" id="{795B5DE5-72BD-46E5-9B30-D34D4B045A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6335" y="2503839"/>
            <a:ext cx="4229804" cy="2814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541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5049C6-6CE4-43AD-8F8B-AF05525DEDD4}"/>
              </a:ext>
            </a:extLst>
          </p:cNvPr>
          <p:cNvSpPr txBox="1"/>
          <p:nvPr/>
        </p:nvSpPr>
        <p:spPr>
          <a:xfrm>
            <a:off x="556591" y="166568"/>
            <a:ext cx="11224592" cy="5262979"/>
          </a:xfrm>
          <a:prstGeom prst="rect">
            <a:avLst/>
          </a:prstGeom>
          <a:noFill/>
        </p:spPr>
        <p:txBody>
          <a:bodyPr wrap="square" rtlCol="0">
            <a:spAutoFit/>
          </a:bodyPr>
          <a:lstStyle/>
          <a:p>
            <a:r>
              <a:rPr lang="en-US" sz="2800" b="1" u="sng" dirty="0"/>
              <a:t>Intercultural Operation:</a:t>
            </a:r>
          </a:p>
          <a:p>
            <a:pPr marL="285750" indent="-285750" algn="just">
              <a:buFont typeface="Wingdings" panose="05000000000000000000" pitchFamily="2" charset="2"/>
              <a:buChar char="Ø"/>
            </a:pPr>
            <a:r>
              <a:rPr lang="en-US" sz="2400" dirty="0"/>
              <a:t>One or two intercultural operation are required </a:t>
            </a:r>
            <a:r>
              <a:rPr lang="en-US" sz="2400" dirty="0" err="1"/>
              <a:t>i.e</a:t>
            </a:r>
            <a:r>
              <a:rPr lang="en-US" sz="2400" dirty="0"/>
              <a:t> during vegetative stage and at second intercultural operation earthing up is done.</a:t>
            </a:r>
          </a:p>
          <a:p>
            <a:pPr marL="285750" indent="-285750" algn="just">
              <a:buFont typeface="Wingdings" panose="05000000000000000000" pitchFamily="2" charset="2"/>
              <a:buChar char="Ø"/>
            </a:pPr>
            <a:r>
              <a:rPr lang="en-US" sz="2400" dirty="0"/>
              <a:t>Removal of weed during intercultural operation.</a:t>
            </a:r>
          </a:p>
          <a:p>
            <a:endParaRPr lang="en-US" sz="1600" dirty="0"/>
          </a:p>
          <a:p>
            <a:r>
              <a:rPr lang="en-US" sz="2800" b="1" u="sng" dirty="0"/>
              <a:t>Harvesting, Threshing and Storage:</a:t>
            </a:r>
          </a:p>
          <a:p>
            <a:pPr marL="285750" indent="-285750" algn="just">
              <a:buFont typeface="Wingdings" panose="05000000000000000000" pitchFamily="2" charset="2"/>
              <a:buChar char="Ø"/>
            </a:pPr>
            <a:r>
              <a:rPr lang="en-US" sz="2400" dirty="0"/>
              <a:t>Maize crop is ready to harvest when the husk turn yellow and the kernels are hard enough having less than 30% of moisture.</a:t>
            </a:r>
          </a:p>
          <a:p>
            <a:pPr marL="285750" indent="-285750" algn="just">
              <a:buFont typeface="Wingdings" panose="05000000000000000000" pitchFamily="2" charset="2"/>
              <a:buChar char="Ø"/>
            </a:pPr>
            <a:r>
              <a:rPr lang="en-US" sz="2400" dirty="0"/>
              <a:t>After harvest of cobs are dried in sunlight with or without removing the husk.</a:t>
            </a:r>
          </a:p>
          <a:p>
            <a:pPr marL="285750" indent="-285750" algn="just">
              <a:buFont typeface="Wingdings" panose="05000000000000000000" pitchFamily="2" charset="2"/>
              <a:buChar char="Ø"/>
            </a:pPr>
            <a:r>
              <a:rPr lang="en-US" sz="2400" dirty="0"/>
              <a:t>The kernels are removed either by beating the cobs by sticks or with the help of maize shelters. </a:t>
            </a:r>
          </a:p>
          <a:p>
            <a:pPr marL="285750" indent="-285750" algn="just">
              <a:buFont typeface="Wingdings" panose="05000000000000000000" pitchFamily="2" charset="2"/>
              <a:buChar char="Ø"/>
            </a:pPr>
            <a:r>
              <a:rPr lang="en-US" sz="2400" dirty="0"/>
              <a:t>After completely dried stored in containers or other suitable materials.</a:t>
            </a:r>
          </a:p>
          <a:p>
            <a:pPr marL="285750" indent="-285750" algn="just">
              <a:buFont typeface="Wingdings" panose="05000000000000000000" pitchFamily="2" charset="2"/>
              <a:buChar char="Ø"/>
            </a:pPr>
            <a:r>
              <a:rPr lang="en-US" sz="2400" dirty="0"/>
              <a:t>For seed purpose, maize cobs are dried and stored in open shed without removing husk.</a:t>
            </a:r>
          </a:p>
        </p:txBody>
      </p:sp>
    </p:spTree>
    <p:extLst>
      <p:ext uri="{BB962C8B-B14F-4D97-AF65-F5344CB8AC3E}">
        <p14:creationId xmlns:p14="http://schemas.microsoft.com/office/powerpoint/2010/main" val="3468413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F1619F-C945-4E89-AC87-94FEE8566D7D}"/>
              </a:ext>
            </a:extLst>
          </p:cNvPr>
          <p:cNvSpPr txBox="1"/>
          <p:nvPr/>
        </p:nvSpPr>
        <p:spPr>
          <a:xfrm>
            <a:off x="477078" y="320456"/>
            <a:ext cx="9908030" cy="5970865"/>
          </a:xfrm>
          <a:prstGeom prst="rect">
            <a:avLst/>
          </a:prstGeom>
          <a:noFill/>
        </p:spPr>
        <p:txBody>
          <a:bodyPr wrap="square" rtlCol="0">
            <a:spAutoFit/>
          </a:bodyPr>
          <a:lstStyle/>
          <a:p>
            <a:r>
              <a:rPr lang="en-US" sz="2800" b="1" u="sng" dirty="0"/>
              <a:t>Yield:</a:t>
            </a:r>
          </a:p>
          <a:p>
            <a:pPr marL="285750" indent="-285750">
              <a:buFont typeface="Wingdings" panose="05000000000000000000" pitchFamily="2" charset="2"/>
              <a:buChar char="Ø"/>
            </a:pPr>
            <a:r>
              <a:rPr lang="en-US" sz="2400" dirty="0"/>
              <a:t>It depend on different factors like varieties, nutrient status etc.</a:t>
            </a:r>
          </a:p>
          <a:p>
            <a:pPr marL="285750" indent="-285750">
              <a:buFont typeface="Wingdings" panose="05000000000000000000" pitchFamily="2" charset="2"/>
              <a:buChar char="Ø"/>
            </a:pPr>
            <a:r>
              <a:rPr lang="en-US" sz="2400" dirty="0"/>
              <a:t>In General, 3-4 ton/ha can be produced.</a:t>
            </a:r>
          </a:p>
          <a:p>
            <a:endParaRPr lang="en-US" sz="1600" dirty="0"/>
          </a:p>
          <a:p>
            <a:endParaRPr lang="en-US" sz="1600" dirty="0"/>
          </a:p>
          <a:p>
            <a:r>
              <a:rPr lang="en-US" sz="2800" b="1" u="sng" dirty="0"/>
              <a:t>Insect/Pest of Maize:</a:t>
            </a:r>
          </a:p>
          <a:p>
            <a:pPr marL="342900" indent="-342900">
              <a:buAutoNum type="arabicPeriod"/>
            </a:pPr>
            <a:r>
              <a:rPr lang="en-US" sz="2400" b="1" dirty="0"/>
              <a:t>Cut Worms (</a:t>
            </a:r>
            <a:r>
              <a:rPr lang="en-US" sz="2400" b="1" i="1" dirty="0" err="1"/>
              <a:t>Agrotis</a:t>
            </a:r>
            <a:r>
              <a:rPr lang="en-US" sz="2400" b="1" i="1" dirty="0"/>
              <a:t> segetum</a:t>
            </a:r>
            <a:r>
              <a:rPr lang="en-US" sz="2400" b="1" dirty="0"/>
              <a:t>)</a:t>
            </a:r>
          </a:p>
          <a:p>
            <a:r>
              <a:rPr lang="en-US" sz="2400" b="1" u="sng" dirty="0"/>
              <a:t>Symptoms:</a:t>
            </a:r>
          </a:p>
          <a:p>
            <a:pPr marL="285750" indent="-285750">
              <a:buFont typeface="Wingdings" panose="05000000000000000000" pitchFamily="2" charset="2"/>
              <a:buChar char="Ø"/>
            </a:pPr>
            <a:r>
              <a:rPr lang="en-US" sz="2400" dirty="0"/>
              <a:t>It cut seedling of maize just above ground level.</a:t>
            </a:r>
          </a:p>
          <a:p>
            <a:pPr marL="285750" indent="-285750">
              <a:buFont typeface="Wingdings" panose="05000000000000000000" pitchFamily="2" charset="2"/>
              <a:buChar char="Ø"/>
            </a:pPr>
            <a:r>
              <a:rPr lang="en-US" sz="2400" dirty="0"/>
              <a:t>It feeds during night time.</a:t>
            </a:r>
          </a:p>
          <a:p>
            <a:endParaRPr lang="en-US" sz="1600" dirty="0"/>
          </a:p>
          <a:p>
            <a:r>
              <a:rPr lang="en-US" sz="2400" b="1" u="sng" dirty="0"/>
              <a:t>Management:</a:t>
            </a:r>
          </a:p>
          <a:p>
            <a:pPr marL="285750" indent="-285750">
              <a:buFont typeface="Wingdings" panose="05000000000000000000" pitchFamily="2" charset="2"/>
              <a:buChar char="Ø"/>
            </a:pPr>
            <a:r>
              <a:rPr lang="en-US" sz="2400" dirty="0"/>
              <a:t>Crop should be grown in pest free field</a:t>
            </a:r>
          </a:p>
          <a:p>
            <a:pPr marL="285750" indent="-285750">
              <a:buFont typeface="Wingdings" panose="05000000000000000000" pitchFamily="2" charset="2"/>
              <a:buChar char="Ø"/>
            </a:pPr>
            <a:r>
              <a:rPr lang="en-US" sz="2400" dirty="0"/>
              <a:t>Use of light trap</a:t>
            </a:r>
          </a:p>
          <a:p>
            <a:pPr marL="285750" indent="-285750">
              <a:buFont typeface="Wingdings" panose="05000000000000000000" pitchFamily="2" charset="2"/>
              <a:buChar char="Ø"/>
            </a:pPr>
            <a:r>
              <a:rPr lang="en-US" sz="2400" dirty="0"/>
              <a:t>Imidacloprid </a:t>
            </a:r>
          </a:p>
          <a:p>
            <a:endParaRPr lang="en-US" sz="1600" dirty="0"/>
          </a:p>
          <a:p>
            <a:endParaRPr lang="en-US" sz="1600" dirty="0"/>
          </a:p>
        </p:txBody>
      </p:sp>
      <p:pic>
        <p:nvPicPr>
          <p:cNvPr id="6146" name="Picture 2" descr="Common cutworm – Pests of Bhutan">
            <a:extLst>
              <a:ext uri="{FF2B5EF4-FFF2-40B4-BE49-F238E27FC236}">
                <a16:creationId xmlns:a16="http://schemas.microsoft.com/office/drawing/2014/main" id="{0F2A2E18-C720-4A19-9466-CA33239863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8405" y="1588770"/>
            <a:ext cx="3406140" cy="3680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5611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C60F43-9620-434A-9EC2-9FA1FA20842D}"/>
              </a:ext>
            </a:extLst>
          </p:cNvPr>
          <p:cNvSpPr txBox="1"/>
          <p:nvPr/>
        </p:nvSpPr>
        <p:spPr>
          <a:xfrm>
            <a:off x="649357" y="145774"/>
            <a:ext cx="8357483" cy="5324535"/>
          </a:xfrm>
          <a:prstGeom prst="rect">
            <a:avLst/>
          </a:prstGeom>
          <a:noFill/>
        </p:spPr>
        <p:txBody>
          <a:bodyPr wrap="square" rtlCol="0">
            <a:spAutoFit/>
          </a:bodyPr>
          <a:lstStyle/>
          <a:p>
            <a:r>
              <a:rPr lang="en-US" sz="3200" b="1" u="sng" dirty="0"/>
              <a:t>2. Maize Stem Borer </a:t>
            </a:r>
            <a:r>
              <a:rPr lang="en-US" sz="3200" b="1" i="1" u="sng" dirty="0"/>
              <a:t>(</a:t>
            </a:r>
            <a:r>
              <a:rPr lang="en-US" sz="3200" b="1" i="1" u="sng" dirty="0" err="1"/>
              <a:t>Chilo</a:t>
            </a:r>
            <a:r>
              <a:rPr lang="en-US" sz="3200" b="1" i="1" u="sng" dirty="0"/>
              <a:t> </a:t>
            </a:r>
            <a:r>
              <a:rPr lang="en-US" sz="3200" b="1" i="1" u="sng" dirty="0" err="1"/>
              <a:t>partellus</a:t>
            </a:r>
            <a:r>
              <a:rPr lang="en-US" sz="3200" b="1" i="1" u="sng" dirty="0"/>
              <a:t>):</a:t>
            </a:r>
          </a:p>
          <a:p>
            <a:r>
              <a:rPr lang="en-US" sz="2600" b="1" u="sng" dirty="0"/>
              <a:t>Symptoms:</a:t>
            </a:r>
          </a:p>
          <a:p>
            <a:pPr marL="285750" indent="-285750" algn="just">
              <a:buFont typeface="Wingdings" panose="05000000000000000000" pitchFamily="2" charset="2"/>
              <a:buChar char="Ø"/>
            </a:pPr>
            <a:r>
              <a:rPr lang="en-US" sz="2600" dirty="0"/>
              <a:t>Larval stage damage crop by feeding on tender leaves making number of holes</a:t>
            </a:r>
          </a:p>
          <a:p>
            <a:pPr marL="285750" indent="-285750" algn="just">
              <a:buFont typeface="Wingdings" panose="05000000000000000000" pitchFamily="2" charset="2"/>
              <a:buChar char="Ø"/>
            </a:pPr>
            <a:r>
              <a:rPr lang="en-US" sz="2600" dirty="0"/>
              <a:t>Later they bore on the top internode and move downwards.</a:t>
            </a:r>
          </a:p>
          <a:p>
            <a:pPr marL="285750" indent="-285750" algn="just">
              <a:buFont typeface="Wingdings" panose="05000000000000000000" pitchFamily="2" charset="2"/>
              <a:buChar char="Ø"/>
            </a:pPr>
            <a:r>
              <a:rPr lang="en-US" sz="2600" dirty="0"/>
              <a:t>At severe stage “Dead Heart” symptoms occur.</a:t>
            </a:r>
          </a:p>
          <a:p>
            <a:endParaRPr lang="en-US" dirty="0"/>
          </a:p>
          <a:p>
            <a:r>
              <a:rPr lang="en-US" sz="2600" b="1" u="sng" dirty="0"/>
              <a:t>Management :</a:t>
            </a:r>
          </a:p>
          <a:p>
            <a:pPr marL="285750" indent="-285750">
              <a:buFont typeface="Wingdings" panose="05000000000000000000" pitchFamily="2" charset="2"/>
              <a:buChar char="Ø"/>
            </a:pPr>
            <a:r>
              <a:rPr lang="en-US" sz="2600" dirty="0"/>
              <a:t>Crop rotation should be followed</a:t>
            </a:r>
          </a:p>
          <a:p>
            <a:pPr marL="285750" indent="-285750">
              <a:buFont typeface="Wingdings" panose="05000000000000000000" pitchFamily="2" charset="2"/>
              <a:buChar char="Ø"/>
            </a:pPr>
            <a:r>
              <a:rPr lang="en-US" sz="2600" dirty="0"/>
              <a:t>Hand picking and destroy of larva if possible</a:t>
            </a:r>
          </a:p>
          <a:p>
            <a:pPr marL="285750" indent="-285750">
              <a:buFont typeface="Wingdings" panose="05000000000000000000" pitchFamily="2" charset="2"/>
              <a:buChar char="Ø"/>
            </a:pPr>
            <a:r>
              <a:rPr lang="en-US" sz="2600" dirty="0"/>
              <a:t>Destroy all the plants attack by the borer in severe case</a:t>
            </a:r>
          </a:p>
          <a:p>
            <a:pPr marL="285750" indent="-285750">
              <a:buFont typeface="Wingdings" panose="05000000000000000000" pitchFamily="2" charset="2"/>
              <a:buChar char="Ø"/>
            </a:pPr>
            <a:r>
              <a:rPr lang="en-US" sz="2600" dirty="0"/>
              <a:t>Burn the stubbles immediately after harvest</a:t>
            </a:r>
          </a:p>
        </p:txBody>
      </p:sp>
      <p:pic>
        <p:nvPicPr>
          <p:cNvPr id="7170" name="Picture 2" descr="73 Corn Stem Borer Royalty-Free Photos ...">
            <a:extLst>
              <a:ext uri="{FF2B5EF4-FFF2-40B4-BE49-F238E27FC236}">
                <a16:creationId xmlns:a16="http://schemas.microsoft.com/office/drawing/2014/main" id="{CDCAB8C0-2DE6-49D9-ADCC-1CF9E5B7B9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0261" y="437323"/>
            <a:ext cx="2722659" cy="289891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Krishi Gyaan - Control of stem borer in ...">
            <a:extLst>
              <a:ext uri="{FF2B5EF4-FFF2-40B4-BE49-F238E27FC236}">
                <a16:creationId xmlns:a16="http://schemas.microsoft.com/office/drawing/2014/main" id="{EB7E2681-4FE0-4D70-A688-BFE2FB3309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0260" y="3429597"/>
            <a:ext cx="2722659" cy="240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506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191AA4-108D-491E-B554-7C584643A8D7}"/>
              </a:ext>
            </a:extLst>
          </p:cNvPr>
          <p:cNvSpPr txBox="1"/>
          <p:nvPr/>
        </p:nvSpPr>
        <p:spPr>
          <a:xfrm>
            <a:off x="609600" y="583096"/>
            <a:ext cx="11131826" cy="5601533"/>
          </a:xfrm>
          <a:prstGeom prst="rect">
            <a:avLst/>
          </a:prstGeom>
          <a:noFill/>
        </p:spPr>
        <p:txBody>
          <a:bodyPr wrap="square" rtlCol="0">
            <a:spAutoFit/>
          </a:bodyPr>
          <a:lstStyle/>
          <a:p>
            <a:r>
              <a:rPr lang="en-US" sz="3200" b="1" u="sng" dirty="0"/>
              <a:t>3. White Grub (</a:t>
            </a:r>
            <a:r>
              <a:rPr lang="en-US" sz="3200" b="1" i="1" u="sng" dirty="0" err="1"/>
              <a:t>Phyllophaga</a:t>
            </a:r>
            <a:r>
              <a:rPr lang="en-US" sz="3200" b="1" i="1" u="sng" dirty="0"/>
              <a:t> rugosa):</a:t>
            </a:r>
          </a:p>
          <a:p>
            <a:r>
              <a:rPr lang="en-US" sz="2800" b="1" u="sng" dirty="0"/>
              <a:t>Symptoms:</a:t>
            </a:r>
          </a:p>
          <a:p>
            <a:pPr marL="285750" indent="-285750">
              <a:buFont typeface="Wingdings" panose="05000000000000000000" pitchFamily="2" charset="2"/>
              <a:buChar char="Ø"/>
            </a:pPr>
            <a:r>
              <a:rPr lang="en-US" sz="2800" dirty="0"/>
              <a:t>Larva feed on roots of the plant.</a:t>
            </a:r>
          </a:p>
          <a:p>
            <a:pPr marL="285750" indent="-285750">
              <a:buFont typeface="Wingdings" panose="05000000000000000000" pitchFamily="2" charset="2"/>
              <a:buChar char="Ø"/>
            </a:pPr>
            <a:r>
              <a:rPr lang="en-US" sz="2800" dirty="0"/>
              <a:t>Damage may result on complete failure of crops.</a:t>
            </a:r>
          </a:p>
          <a:p>
            <a:endParaRPr lang="en-US" dirty="0"/>
          </a:p>
          <a:p>
            <a:r>
              <a:rPr lang="en-US" sz="2800" b="1" u="sng" dirty="0"/>
              <a:t>Management:</a:t>
            </a:r>
          </a:p>
          <a:p>
            <a:pPr marL="285750" indent="-285750" algn="just">
              <a:buFont typeface="Wingdings" panose="05000000000000000000" pitchFamily="2" charset="2"/>
              <a:buChar char="Ø"/>
            </a:pPr>
            <a:r>
              <a:rPr lang="en-US" sz="2800" dirty="0"/>
              <a:t>Deep ploughing of field after harvest</a:t>
            </a:r>
          </a:p>
          <a:p>
            <a:pPr marL="285750" indent="-285750" algn="just">
              <a:buFont typeface="Wingdings" panose="05000000000000000000" pitchFamily="2" charset="2"/>
              <a:buChar char="Ø"/>
            </a:pPr>
            <a:r>
              <a:rPr lang="en-US" sz="2800" dirty="0"/>
              <a:t>Grubs lay eggs in grasses and weeds. So, making field completely weed free in the month of </a:t>
            </a:r>
            <a:r>
              <a:rPr lang="en-US" sz="2800" dirty="0" err="1"/>
              <a:t>Baishakh</a:t>
            </a:r>
            <a:r>
              <a:rPr lang="en-US" sz="2800" dirty="0"/>
              <a:t>, </a:t>
            </a:r>
            <a:r>
              <a:rPr lang="en-US" sz="2800" dirty="0" err="1"/>
              <a:t>Jestha</a:t>
            </a:r>
            <a:r>
              <a:rPr lang="en-US" sz="2800" dirty="0"/>
              <a:t> before maize cultivation can reduce white grub attack.</a:t>
            </a:r>
          </a:p>
          <a:p>
            <a:pPr marL="285750" indent="-285750" algn="just">
              <a:buFont typeface="Wingdings" panose="05000000000000000000" pitchFamily="2" charset="2"/>
              <a:buChar char="Ø"/>
            </a:pPr>
            <a:r>
              <a:rPr lang="en-US" sz="2800" dirty="0"/>
              <a:t>Use of completely decomposed compost and FYM</a:t>
            </a:r>
          </a:p>
          <a:p>
            <a:pPr marL="285750" indent="-285750" algn="just">
              <a:buFont typeface="Wingdings" panose="05000000000000000000" pitchFamily="2" charset="2"/>
              <a:buChar char="Ø"/>
            </a:pPr>
            <a:r>
              <a:rPr lang="en-US" sz="2800" dirty="0"/>
              <a:t>Collect and destroy the white grub during tillage operations.</a:t>
            </a:r>
          </a:p>
          <a:p>
            <a:pPr marL="285750" indent="-285750" algn="just">
              <a:buFont typeface="Wingdings" panose="05000000000000000000" pitchFamily="2" charset="2"/>
              <a:buChar char="Ø"/>
            </a:pPr>
            <a:r>
              <a:rPr lang="en-US" sz="2800" dirty="0"/>
              <a:t>Apply chemicals like </a:t>
            </a:r>
            <a:r>
              <a:rPr lang="en-US" sz="2800" dirty="0" err="1"/>
              <a:t>Thimet</a:t>
            </a:r>
            <a:r>
              <a:rPr lang="en-US" sz="2800" dirty="0"/>
              <a:t> @ 15kg/ha.</a:t>
            </a:r>
          </a:p>
        </p:txBody>
      </p:sp>
      <p:pic>
        <p:nvPicPr>
          <p:cNvPr id="8194" name="Picture 2" descr="Early Soil Insect Problems in Corn ...">
            <a:extLst>
              <a:ext uri="{FF2B5EF4-FFF2-40B4-BE49-F238E27FC236}">
                <a16:creationId xmlns:a16="http://schemas.microsoft.com/office/drawing/2014/main" id="{5AE6A6A2-1A08-4D76-A5EC-AAAEEC0E5F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9123" y="673372"/>
            <a:ext cx="3363277" cy="2475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4646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93F62A-4D60-4067-B96C-BF361CE766C5}"/>
              </a:ext>
            </a:extLst>
          </p:cNvPr>
          <p:cNvSpPr txBox="1"/>
          <p:nvPr/>
        </p:nvSpPr>
        <p:spPr>
          <a:xfrm>
            <a:off x="596349" y="622852"/>
            <a:ext cx="7838992" cy="4739759"/>
          </a:xfrm>
          <a:prstGeom prst="rect">
            <a:avLst/>
          </a:prstGeom>
          <a:noFill/>
        </p:spPr>
        <p:txBody>
          <a:bodyPr wrap="square" rtlCol="0">
            <a:spAutoFit/>
          </a:bodyPr>
          <a:lstStyle/>
          <a:p>
            <a:r>
              <a:rPr lang="en-US" sz="3200" b="1" dirty="0"/>
              <a:t>Maize Disease:</a:t>
            </a:r>
          </a:p>
          <a:p>
            <a:pPr marL="342900" indent="-342900">
              <a:buAutoNum type="arabicPeriod"/>
            </a:pPr>
            <a:r>
              <a:rPr lang="en-US" sz="2800" b="1" dirty="0"/>
              <a:t>Head Smut (</a:t>
            </a:r>
            <a:r>
              <a:rPr lang="en-US" sz="2800" b="1" i="1" dirty="0" err="1"/>
              <a:t>Sphacelotheca</a:t>
            </a:r>
            <a:r>
              <a:rPr lang="en-US" sz="2800" b="1" i="1" dirty="0"/>
              <a:t> </a:t>
            </a:r>
            <a:r>
              <a:rPr lang="en-US" sz="2800" b="1" i="1" dirty="0" err="1"/>
              <a:t>reiliana</a:t>
            </a:r>
            <a:r>
              <a:rPr lang="en-US" sz="2800" b="1" i="1" dirty="0"/>
              <a:t>)</a:t>
            </a:r>
          </a:p>
          <a:p>
            <a:r>
              <a:rPr lang="en-US" sz="2800" b="1" u="sng" dirty="0"/>
              <a:t>Symptoms:</a:t>
            </a:r>
          </a:p>
          <a:p>
            <a:pPr marL="285750" indent="-285750" algn="just">
              <a:buFont typeface="Wingdings" panose="05000000000000000000" pitchFamily="2" charset="2"/>
              <a:buChar char="Ø"/>
            </a:pPr>
            <a:r>
              <a:rPr lang="en-US" sz="2400" dirty="0"/>
              <a:t>Fungus produce powdery dirty mass covers the tassel, producing galls on the tassel of the plant.</a:t>
            </a:r>
          </a:p>
          <a:p>
            <a:endParaRPr lang="en-US" dirty="0"/>
          </a:p>
          <a:p>
            <a:r>
              <a:rPr lang="en-US" sz="2800" b="1" u="sng" dirty="0"/>
              <a:t>Management:</a:t>
            </a:r>
          </a:p>
          <a:p>
            <a:pPr marL="285750" indent="-285750" algn="just">
              <a:buFont typeface="Wingdings" panose="05000000000000000000" pitchFamily="2" charset="2"/>
              <a:buChar char="Ø"/>
            </a:pPr>
            <a:r>
              <a:rPr lang="en-US" sz="2400" dirty="0"/>
              <a:t>Grow disease resistance varieties</a:t>
            </a:r>
          </a:p>
          <a:p>
            <a:pPr marL="285750" indent="-285750" algn="just">
              <a:buFont typeface="Wingdings" panose="05000000000000000000" pitchFamily="2" charset="2"/>
              <a:buChar char="Ø"/>
            </a:pPr>
            <a:r>
              <a:rPr lang="en-US" sz="2400" dirty="0"/>
              <a:t>Soil solarization should be done before sowing because this pathogen lives in the soil.</a:t>
            </a:r>
          </a:p>
          <a:p>
            <a:pPr marL="285750" indent="-285750" algn="just">
              <a:buFont typeface="Wingdings" panose="05000000000000000000" pitchFamily="2" charset="2"/>
              <a:buChar char="Ø"/>
            </a:pPr>
            <a:r>
              <a:rPr lang="en-US" sz="2400" dirty="0"/>
              <a:t>Seed treatment with fungicides (Thiram, Bavistin 2-3 gm/kg seeds.</a:t>
            </a:r>
          </a:p>
        </p:txBody>
      </p:sp>
      <p:pic>
        <p:nvPicPr>
          <p:cNvPr id="9218" name="Picture 2" descr="Common Smut and Head Smut in Corn ...">
            <a:extLst>
              <a:ext uri="{FF2B5EF4-FFF2-40B4-BE49-F238E27FC236}">
                <a16:creationId xmlns:a16="http://schemas.microsoft.com/office/drawing/2014/main" id="{C6A4FED9-D5B6-40D6-ADB1-580970BB36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1099" y="265705"/>
            <a:ext cx="3017520" cy="2989028"/>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Plantwise Knowledge Bank">
            <a:extLst>
              <a:ext uri="{FF2B5EF4-FFF2-40B4-BE49-F238E27FC236}">
                <a16:creationId xmlns:a16="http://schemas.microsoft.com/office/drawing/2014/main" id="{5BDDE234-B612-4438-9D8D-EB78A19075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1099" y="3457494"/>
            <a:ext cx="3017520" cy="2423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4616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4C837F-1FD6-41CF-92A5-7E5FF2370AB3}"/>
              </a:ext>
            </a:extLst>
          </p:cNvPr>
          <p:cNvSpPr txBox="1"/>
          <p:nvPr/>
        </p:nvSpPr>
        <p:spPr>
          <a:xfrm>
            <a:off x="675861" y="636104"/>
            <a:ext cx="7919499" cy="5170646"/>
          </a:xfrm>
          <a:prstGeom prst="rect">
            <a:avLst/>
          </a:prstGeom>
          <a:noFill/>
        </p:spPr>
        <p:txBody>
          <a:bodyPr wrap="square" rtlCol="0">
            <a:spAutoFit/>
          </a:bodyPr>
          <a:lstStyle/>
          <a:p>
            <a:r>
              <a:rPr lang="en-US" sz="3200" b="1" dirty="0"/>
              <a:t>2. Pythium Stalk Rot (</a:t>
            </a:r>
            <a:r>
              <a:rPr lang="en-US" sz="3200" b="1" i="1" dirty="0" err="1"/>
              <a:t>Diplodia</a:t>
            </a:r>
            <a:r>
              <a:rPr lang="en-US" sz="3200" b="1" i="1" dirty="0"/>
              <a:t> </a:t>
            </a:r>
            <a:r>
              <a:rPr lang="en-US" sz="3200" b="1" i="1" dirty="0" err="1"/>
              <a:t>zea</a:t>
            </a:r>
            <a:r>
              <a:rPr lang="en-US" sz="3200" b="1" i="1" dirty="0"/>
              <a:t>)</a:t>
            </a:r>
          </a:p>
          <a:p>
            <a:r>
              <a:rPr lang="en-US" sz="2800" b="1" u="sng" dirty="0"/>
              <a:t>Symptom:</a:t>
            </a:r>
          </a:p>
          <a:p>
            <a:pPr marL="285750" indent="-285750" algn="just">
              <a:buFont typeface="Wingdings" panose="05000000000000000000" pitchFamily="2" charset="2"/>
              <a:buChar char="Ø"/>
            </a:pPr>
            <a:r>
              <a:rPr lang="en-US" sz="2800" dirty="0"/>
              <a:t>Infected plant becomes short at lower internode get twisted and lodge over ground.</a:t>
            </a:r>
          </a:p>
          <a:p>
            <a:pPr marL="285750" indent="-285750" algn="just">
              <a:buFont typeface="Wingdings" panose="05000000000000000000" pitchFamily="2" charset="2"/>
              <a:buChar char="Ø"/>
            </a:pPr>
            <a:r>
              <a:rPr lang="en-US" sz="2800" dirty="0"/>
              <a:t>It become serious when plant is higher and water accumulates in the field during knee height stage to flowering stage.</a:t>
            </a:r>
          </a:p>
          <a:p>
            <a:endParaRPr lang="en-US" dirty="0"/>
          </a:p>
          <a:p>
            <a:r>
              <a:rPr lang="en-US" sz="2800" b="1" u="sng" dirty="0"/>
              <a:t>Management:</a:t>
            </a:r>
          </a:p>
          <a:p>
            <a:pPr marL="285750" indent="-285750">
              <a:buFont typeface="Wingdings" panose="05000000000000000000" pitchFamily="2" charset="2"/>
              <a:buChar char="Ø"/>
            </a:pPr>
            <a:r>
              <a:rPr lang="en-US" sz="2800" dirty="0"/>
              <a:t>Selection of disease resistance variety</a:t>
            </a:r>
          </a:p>
          <a:p>
            <a:pPr marL="285750" indent="-285750">
              <a:buFont typeface="Wingdings" panose="05000000000000000000" pitchFamily="2" charset="2"/>
              <a:buChar char="Ø"/>
            </a:pPr>
            <a:r>
              <a:rPr lang="en-US" sz="2800" dirty="0"/>
              <a:t>Maintaining proper spacing</a:t>
            </a:r>
          </a:p>
          <a:p>
            <a:pPr marL="285750" indent="-285750">
              <a:buFont typeface="Wingdings" panose="05000000000000000000" pitchFamily="2" charset="2"/>
              <a:buChar char="Ø"/>
            </a:pPr>
            <a:r>
              <a:rPr lang="en-US" sz="2800" dirty="0"/>
              <a:t>Apply </a:t>
            </a:r>
            <a:r>
              <a:rPr lang="en-US" sz="2800" dirty="0" err="1"/>
              <a:t>captan</a:t>
            </a:r>
            <a:r>
              <a:rPr lang="en-US" sz="2800" dirty="0"/>
              <a:t> @ 1.5 gm/kg</a:t>
            </a:r>
          </a:p>
        </p:txBody>
      </p:sp>
      <p:pic>
        <p:nvPicPr>
          <p:cNvPr id="10242" name="Picture 2" descr="Pythium stalk rot in maize | Damage to ...">
            <a:extLst>
              <a:ext uri="{FF2B5EF4-FFF2-40B4-BE49-F238E27FC236}">
                <a16:creationId xmlns:a16="http://schemas.microsoft.com/office/drawing/2014/main" id="{DBA5CD65-9D06-4730-A335-9884D577F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5888" y="428532"/>
            <a:ext cx="2698432" cy="2792895"/>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Crop Protection Network">
            <a:extLst>
              <a:ext uri="{FF2B5EF4-FFF2-40B4-BE49-F238E27FC236}">
                <a16:creationId xmlns:a16="http://schemas.microsoft.com/office/drawing/2014/main" id="{85C4220A-1358-4685-9CF0-E13371D17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5888" y="3339775"/>
            <a:ext cx="2698432" cy="2466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013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521612-AE0A-4FA8-869F-994B75A397B6}"/>
              </a:ext>
            </a:extLst>
          </p:cNvPr>
          <p:cNvSpPr txBox="1"/>
          <p:nvPr/>
        </p:nvSpPr>
        <p:spPr>
          <a:xfrm>
            <a:off x="450574" y="516835"/>
            <a:ext cx="7756166" cy="4308872"/>
          </a:xfrm>
          <a:prstGeom prst="rect">
            <a:avLst/>
          </a:prstGeom>
          <a:noFill/>
        </p:spPr>
        <p:txBody>
          <a:bodyPr wrap="square" rtlCol="0">
            <a:spAutoFit/>
          </a:bodyPr>
          <a:lstStyle/>
          <a:p>
            <a:pPr algn="just"/>
            <a:r>
              <a:rPr lang="en-US" sz="3200" b="1" dirty="0"/>
              <a:t>3. Bacterial Stalk Rot (</a:t>
            </a:r>
            <a:r>
              <a:rPr lang="en-US" sz="3200" b="1" i="1" dirty="0"/>
              <a:t>Erwinia </a:t>
            </a:r>
            <a:r>
              <a:rPr lang="en-US" sz="3200" b="1" i="1" dirty="0" err="1"/>
              <a:t>cartovora</a:t>
            </a:r>
            <a:r>
              <a:rPr lang="en-US" sz="3200" b="1" i="1" dirty="0"/>
              <a:t>)</a:t>
            </a:r>
          </a:p>
          <a:p>
            <a:pPr algn="just"/>
            <a:r>
              <a:rPr lang="en-US" sz="2800" b="1" u="sng" dirty="0"/>
              <a:t>Symptom:</a:t>
            </a:r>
          </a:p>
          <a:p>
            <a:pPr marL="342900" indent="-342900" algn="just">
              <a:buFont typeface="Wingdings" panose="05000000000000000000" pitchFamily="2" charset="2"/>
              <a:buChar char="Ø"/>
            </a:pPr>
            <a:r>
              <a:rPr lang="en-US" sz="2800" dirty="0"/>
              <a:t>Basal internode becomes soft, discolored and gives a fermenting smells.</a:t>
            </a:r>
          </a:p>
          <a:p>
            <a:pPr algn="just"/>
            <a:endParaRPr lang="en-US" dirty="0"/>
          </a:p>
          <a:p>
            <a:pPr algn="just"/>
            <a:r>
              <a:rPr lang="en-US" sz="2800" b="1" u="sng" dirty="0"/>
              <a:t>Management:</a:t>
            </a:r>
          </a:p>
          <a:p>
            <a:pPr marL="285750" indent="-285750" algn="just">
              <a:buFont typeface="Wingdings" panose="05000000000000000000" pitchFamily="2" charset="2"/>
              <a:buChar char="Ø"/>
            </a:pPr>
            <a:r>
              <a:rPr lang="en-US" sz="2800" dirty="0"/>
              <a:t>Avoid water logging at any stage of plant growth</a:t>
            </a:r>
          </a:p>
          <a:p>
            <a:pPr marL="285750" indent="-285750" algn="just">
              <a:buFont typeface="Wingdings" panose="05000000000000000000" pitchFamily="2" charset="2"/>
              <a:buChar char="Ø"/>
            </a:pPr>
            <a:r>
              <a:rPr lang="en-US" sz="2800" dirty="0"/>
              <a:t>Avoid injury on the plant at the time of hoeing, weeding &amp; top dressing</a:t>
            </a:r>
          </a:p>
          <a:p>
            <a:pPr marL="285750" indent="-285750" algn="just">
              <a:buFont typeface="Wingdings" panose="05000000000000000000" pitchFamily="2" charset="2"/>
              <a:buChar char="Ø"/>
            </a:pPr>
            <a:r>
              <a:rPr lang="en-US" sz="2800" dirty="0"/>
              <a:t>Apply bleaching powder along rows 10-15 kg/ha</a:t>
            </a:r>
          </a:p>
        </p:txBody>
      </p:sp>
      <p:pic>
        <p:nvPicPr>
          <p:cNvPr id="11266" name="Picture 2" descr="Bacterial Stalk Rot in Corn">
            <a:extLst>
              <a:ext uri="{FF2B5EF4-FFF2-40B4-BE49-F238E27FC236}">
                <a16:creationId xmlns:a16="http://schemas.microsoft.com/office/drawing/2014/main" id="{10B83A91-E283-4FC8-9DF8-A0D541606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6152" y="646044"/>
            <a:ext cx="3385274" cy="2627243"/>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Bacterial stalk and top rot | Corn ...">
            <a:extLst>
              <a:ext uri="{FF2B5EF4-FFF2-40B4-BE49-F238E27FC236}">
                <a16:creationId xmlns:a16="http://schemas.microsoft.com/office/drawing/2014/main" id="{6739500F-279A-4026-8FFE-53A5ECC13A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6152" y="3465446"/>
            <a:ext cx="3385274" cy="2290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232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BA5495-7780-495D-B10B-2CD47C86EF65}"/>
              </a:ext>
            </a:extLst>
          </p:cNvPr>
          <p:cNvSpPr txBox="1"/>
          <p:nvPr/>
        </p:nvSpPr>
        <p:spPr>
          <a:xfrm>
            <a:off x="728869" y="3019334"/>
            <a:ext cx="10734261" cy="1754326"/>
          </a:xfrm>
          <a:prstGeom prst="rect">
            <a:avLst/>
          </a:prstGeom>
          <a:noFill/>
        </p:spPr>
        <p:txBody>
          <a:bodyPr wrap="square" rtlCol="0">
            <a:spAutoFit/>
          </a:bodyPr>
          <a:lstStyle/>
          <a:p>
            <a:pPr algn="ctr"/>
            <a:r>
              <a:rPr lang="en-US" sz="5400" b="1" dirty="0"/>
              <a:t>Thank You !</a:t>
            </a:r>
          </a:p>
          <a:p>
            <a:pPr algn="ctr"/>
            <a:endParaRPr lang="en-US" sz="5400" b="1" dirty="0"/>
          </a:p>
        </p:txBody>
      </p:sp>
    </p:spTree>
    <p:extLst>
      <p:ext uri="{BB962C8B-B14F-4D97-AF65-F5344CB8AC3E}">
        <p14:creationId xmlns:p14="http://schemas.microsoft.com/office/powerpoint/2010/main" val="283442013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181</TotalTime>
  <Words>964</Words>
  <Application>Microsoft Office PowerPoint</Application>
  <PresentationFormat>Widescreen</PresentationFormat>
  <Paragraphs>133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Gill Sans MT</vt:lpstr>
      <vt:lpstr>Times New Roman</vt:lpstr>
      <vt:lpstr>Wingdings</vt:lpstr>
      <vt:lpstr>Gallery</vt:lpstr>
      <vt:lpstr>Cultivation Practices of Maize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Cultivation Practices of Maize</dc:title>
  <dc:creator>Harichandra Singh</dc:creator>
  <cp:lastModifiedBy>Harichandra Singh</cp:lastModifiedBy>
  <cp:revision>21</cp:revision>
  <dcterms:created xsi:type="dcterms:W3CDTF">2024-11-11T11:10:20Z</dcterms:created>
  <dcterms:modified xsi:type="dcterms:W3CDTF">2024-11-11T14:11:28Z</dcterms:modified>
</cp:coreProperties>
</file>